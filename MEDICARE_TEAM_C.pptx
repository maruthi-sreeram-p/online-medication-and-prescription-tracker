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7" r:id="rId11"/>
    <p:sldId id="268" r:id="rId12"/>
    <p:sldId id="269" r:id="rId13"/>
    <p:sldId id="265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4" d="100"/>
          <a:sy n="44" d="100"/>
        </p:scale>
        <p:origin x="588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E0FC77-05EA-4750-9FB9-2CBABB30698A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D7E6A-DD69-4B1B-9E58-EA0167856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205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D7E6A-DD69-4B1B-9E58-EA0167856DA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883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D7E6A-DD69-4B1B-9E58-EA0167856DA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295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rgbClr val="24096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350" b="1" i="0">
                <a:solidFill>
                  <a:srgbClr val="24096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rgbClr val="24096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350" b="1" i="0">
                <a:solidFill>
                  <a:srgbClr val="24096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rgbClr val="24096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rgbClr val="24096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CE4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399589" y="766080"/>
            <a:ext cx="732155" cy="358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rgbClr val="24096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45877" y="3433656"/>
            <a:ext cx="9996244" cy="2974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350" b="1" i="0">
                <a:solidFill>
                  <a:srgbClr val="24096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44600" y="5439267"/>
            <a:ext cx="3185720" cy="31857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282" y="783735"/>
            <a:ext cx="7566675" cy="78066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73400" y="279857"/>
            <a:ext cx="1892037" cy="189203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028702" y="9444473"/>
            <a:ext cx="415290" cy="415290"/>
          </a:xfrm>
          <a:custGeom>
            <a:avLst/>
            <a:gdLst/>
            <a:ahLst/>
            <a:cxnLst/>
            <a:rect l="l" t="t" r="r" b="b"/>
            <a:pathLst>
              <a:path w="415290" h="415290">
                <a:moveTo>
                  <a:pt x="207607" y="415195"/>
                </a:moveTo>
                <a:lnTo>
                  <a:pt x="159648" y="409672"/>
                </a:lnTo>
                <a:lnTo>
                  <a:pt x="159892" y="409672"/>
                </a:lnTo>
                <a:lnTo>
                  <a:pt x="116212" y="394033"/>
                </a:lnTo>
                <a:lnTo>
                  <a:pt x="79242" y="370532"/>
                </a:lnTo>
                <a:lnTo>
                  <a:pt x="45570" y="337380"/>
                </a:lnTo>
                <a:lnTo>
                  <a:pt x="21082" y="298849"/>
                </a:lnTo>
                <a:lnTo>
                  <a:pt x="5476" y="255170"/>
                </a:lnTo>
                <a:lnTo>
                  <a:pt x="0" y="207585"/>
                </a:lnTo>
                <a:lnTo>
                  <a:pt x="5485" y="159987"/>
                </a:lnTo>
                <a:lnTo>
                  <a:pt x="21102" y="116294"/>
                </a:lnTo>
                <a:lnTo>
                  <a:pt x="45607" y="77751"/>
                </a:lnTo>
                <a:lnTo>
                  <a:pt x="77755" y="45604"/>
                </a:lnTo>
                <a:lnTo>
                  <a:pt x="116302" y="21099"/>
                </a:lnTo>
                <a:lnTo>
                  <a:pt x="160001" y="5482"/>
                </a:lnTo>
                <a:lnTo>
                  <a:pt x="207607" y="0"/>
                </a:lnTo>
                <a:lnTo>
                  <a:pt x="255206" y="5482"/>
                </a:lnTo>
                <a:lnTo>
                  <a:pt x="292757" y="18902"/>
                </a:lnTo>
                <a:lnTo>
                  <a:pt x="207607" y="18902"/>
                </a:lnTo>
                <a:lnTo>
                  <a:pt x="157444" y="25642"/>
                </a:lnTo>
                <a:lnTo>
                  <a:pt x="112367" y="44662"/>
                </a:lnTo>
                <a:lnTo>
                  <a:pt x="74174" y="74164"/>
                </a:lnTo>
                <a:lnTo>
                  <a:pt x="44666" y="112351"/>
                </a:lnTo>
                <a:lnTo>
                  <a:pt x="25641" y="157424"/>
                </a:lnTo>
                <a:lnTo>
                  <a:pt x="18899" y="207585"/>
                </a:lnTo>
                <a:lnTo>
                  <a:pt x="25641" y="257757"/>
                </a:lnTo>
                <a:lnTo>
                  <a:pt x="44666" y="302836"/>
                </a:lnTo>
                <a:lnTo>
                  <a:pt x="74174" y="341027"/>
                </a:lnTo>
                <a:lnTo>
                  <a:pt x="112367" y="370532"/>
                </a:lnTo>
                <a:lnTo>
                  <a:pt x="157444" y="389553"/>
                </a:lnTo>
                <a:lnTo>
                  <a:pt x="207607" y="396293"/>
                </a:lnTo>
                <a:lnTo>
                  <a:pt x="292550" y="396293"/>
                </a:lnTo>
                <a:lnTo>
                  <a:pt x="255184" y="409672"/>
                </a:lnTo>
                <a:lnTo>
                  <a:pt x="207607" y="415195"/>
                </a:lnTo>
                <a:close/>
              </a:path>
              <a:path w="415290" h="415290">
                <a:moveTo>
                  <a:pt x="292550" y="396293"/>
                </a:moveTo>
                <a:lnTo>
                  <a:pt x="207607" y="396293"/>
                </a:lnTo>
                <a:lnTo>
                  <a:pt x="257770" y="389553"/>
                </a:lnTo>
                <a:lnTo>
                  <a:pt x="302847" y="370532"/>
                </a:lnTo>
                <a:lnTo>
                  <a:pt x="341040" y="341027"/>
                </a:lnTo>
                <a:lnTo>
                  <a:pt x="370548" y="302836"/>
                </a:lnTo>
                <a:lnTo>
                  <a:pt x="389573" y="257757"/>
                </a:lnTo>
                <a:lnTo>
                  <a:pt x="396314" y="207585"/>
                </a:lnTo>
                <a:lnTo>
                  <a:pt x="389517" y="157424"/>
                </a:lnTo>
                <a:lnTo>
                  <a:pt x="372131" y="116294"/>
                </a:lnTo>
                <a:lnTo>
                  <a:pt x="343704" y="77751"/>
                </a:lnTo>
                <a:lnTo>
                  <a:pt x="303946" y="45604"/>
                </a:lnTo>
                <a:lnTo>
                  <a:pt x="257655" y="25642"/>
                </a:lnTo>
                <a:lnTo>
                  <a:pt x="257466" y="25642"/>
                </a:lnTo>
                <a:lnTo>
                  <a:pt x="207607" y="18902"/>
                </a:lnTo>
                <a:lnTo>
                  <a:pt x="292757" y="18902"/>
                </a:lnTo>
                <a:lnTo>
                  <a:pt x="298903" y="21099"/>
                </a:lnTo>
                <a:lnTo>
                  <a:pt x="337451" y="45604"/>
                </a:lnTo>
                <a:lnTo>
                  <a:pt x="369604" y="77751"/>
                </a:lnTo>
                <a:lnTo>
                  <a:pt x="394113" y="116294"/>
                </a:lnTo>
                <a:lnTo>
                  <a:pt x="409733" y="159987"/>
                </a:lnTo>
                <a:lnTo>
                  <a:pt x="415217" y="207585"/>
                </a:lnTo>
                <a:lnTo>
                  <a:pt x="409692" y="255170"/>
                </a:lnTo>
                <a:lnTo>
                  <a:pt x="394051" y="298849"/>
                </a:lnTo>
                <a:lnTo>
                  <a:pt x="369536" y="337380"/>
                </a:lnTo>
                <a:lnTo>
                  <a:pt x="337392" y="369522"/>
                </a:lnTo>
                <a:lnTo>
                  <a:pt x="298860" y="394033"/>
                </a:lnTo>
                <a:lnTo>
                  <a:pt x="292550" y="396293"/>
                </a:lnTo>
                <a:close/>
              </a:path>
              <a:path w="415290" h="415290">
                <a:moveTo>
                  <a:pt x="226928" y="329025"/>
                </a:moveTo>
                <a:lnTo>
                  <a:pt x="181000" y="329025"/>
                </a:lnTo>
                <a:lnTo>
                  <a:pt x="287058" y="222402"/>
                </a:lnTo>
                <a:lnTo>
                  <a:pt x="98572" y="222402"/>
                </a:lnTo>
                <a:lnTo>
                  <a:pt x="98572" y="184597"/>
                </a:lnTo>
                <a:lnTo>
                  <a:pt x="281397" y="184597"/>
                </a:lnTo>
                <a:lnTo>
                  <a:pt x="175487" y="78490"/>
                </a:lnTo>
                <a:lnTo>
                  <a:pt x="221243" y="78490"/>
                </a:lnTo>
                <a:lnTo>
                  <a:pt x="349107" y="206355"/>
                </a:lnTo>
                <a:lnTo>
                  <a:pt x="226928" y="329025"/>
                </a:lnTo>
                <a:close/>
              </a:path>
            </a:pathLst>
          </a:custGeom>
          <a:solidFill>
            <a:srgbClr val="24096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37566" y="9416426"/>
            <a:ext cx="986790" cy="28789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spc="90" dirty="0">
                <a:solidFill>
                  <a:srgbClr val="2409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sz="1800" b="1" spc="295" dirty="0">
                <a:solidFill>
                  <a:srgbClr val="2409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75" dirty="0">
                <a:solidFill>
                  <a:srgbClr val="2409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CB3E80C0-8959-C5B6-FE26-6F0D2B0E49E8}"/>
              </a:ext>
            </a:extLst>
          </p:cNvPr>
          <p:cNvSpPr txBox="1"/>
          <p:nvPr/>
        </p:nvSpPr>
        <p:spPr>
          <a:xfrm>
            <a:off x="1840570" y="3567682"/>
            <a:ext cx="14196996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800" b="1" kern="0" spc="800" dirty="0"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MEDICARE</a:t>
            </a:r>
            <a:endParaRPr lang="en-US" sz="12800" dirty="0">
              <a:latin typeface="Times New Roman" panose="02020603050405020304" pitchFamily="18" charset="0"/>
              <a:ea typeface="Microsoft Himalaya" panose="01010100010101010101" pitchFamily="2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58417B-D771-2EEA-2158-343E37B50619}"/>
              </a:ext>
            </a:extLst>
          </p:cNvPr>
          <p:cNvSpPr txBox="1"/>
          <p:nvPr/>
        </p:nvSpPr>
        <p:spPr>
          <a:xfrm>
            <a:off x="10046107" y="748823"/>
            <a:ext cx="139564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kern="0" spc="200" dirty="0"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Online Medication and Prescription Tracker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D20516A0-AE6A-6180-E5AF-1B530A51D23F}"/>
              </a:ext>
            </a:extLst>
          </p:cNvPr>
          <p:cNvSpPr/>
          <p:nvPr/>
        </p:nvSpPr>
        <p:spPr>
          <a:xfrm>
            <a:off x="612046" y="8156023"/>
            <a:ext cx="1729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A smart platform connecting Doctors, Patients, Staff &amp; Admins for seamless prescription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management and real-time medication adherence tracking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26881" y="2291955"/>
            <a:ext cx="16939510" cy="7969353"/>
            <a:chOff x="0" y="2016665"/>
            <a:chExt cx="16939510" cy="7969353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16665"/>
              <a:ext cx="13652820" cy="689181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3999" y="6709979"/>
              <a:ext cx="7795511" cy="327603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58233" y="2212921"/>
            <a:ext cx="2437637" cy="19856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3722" y="7747668"/>
            <a:ext cx="1256320" cy="125632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028702" y="9444473"/>
            <a:ext cx="415290" cy="415290"/>
          </a:xfrm>
          <a:custGeom>
            <a:avLst/>
            <a:gdLst/>
            <a:ahLst/>
            <a:cxnLst/>
            <a:rect l="l" t="t" r="r" b="b"/>
            <a:pathLst>
              <a:path w="415290" h="415290">
                <a:moveTo>
                  <a:pt x="207607" y="415195"/>
                </a:moveTo>
                <a:lnTo>
                  <a:pt x="159648" y="409672"/>
                </a:lnTo>
                <a:lnTo>
                  <a:pt x="159892" y="409672"/>
                </a:lnTo>
                <a:lnTo>
                  <a:pt x="116212" y="394033"/>
                </a:lnTo>
                <a:lnTo>
                  <a:pt x="79242" y="370532"/>
                </a:lnTo>
                <a:lnTo>
                  <a:pt x="45570" y="337380"/>
                </a:lnTo>
                <a:lnTo>
                  <a:pt x="21082" y="298849"/>
                </a:lnTo>
                <a:lnTo>
                  <a:pt x="5476" y="255170"/>
                </a:lnTo>
                <a:lnTo>
                  <a:pt x="0" y="207585"/>
                </a:lnTo>
                <a:lnTo>
                  <a:pt x="5485" y="159987"/>
                </a:lnTo>
                <a:lnTo>
                  <a:pt x="21102" y="116294"/>
                </a:lnTo>
                <a:lnTo>
                  <a:pt x="45607" y="77751"/>
                </a:lnTo>
                <a:lnTo>
                  <a:pt x="77755" y="45604"/>
                </a:lnTo>
                <a:lnTo>
                  <a:pt x="116302" y="21099"/>
                </a:lnTo>
                <a:lnTo>
                  <a:pt x="160001" y="5482"/>
                </a:lnTo>
                <a:lnTo>
                  <a:pt x="207607" y="0"/>
                </a:lnTo>
                <a:lnTo>
                  <a:pt x="255206" y="5482"/>
                </a:lnTo>
                <a:lnTo>
                  <a:pt x="292757" y="18902"/>
                </a:lnTo>
                <a:lnTo>
                  <a:pt x="207607" y="18902"/>
                </a:lnTo>
                <a:lnTo>
                  <a:pt x="157444" y="25642"/>
                </a:lnTo>
                <a:lnTo>
                  <a:pt x="112367" y="44662"/>
                </a:lnTo>
                <a:lnTo>
                  <a:pt x="74174" y="74164"/>
                </a:lnTo>
                <a:lnTo>
                  <a:pt x="44666" y="112351"/>
                </a:lnTo>
                <a:lnTo>
                  <a:pt x="25641" y="157424"/>
                </a:lnTo>
                <a:lnTo>
                  <a:pt x="18899" y="207585"/>
                </a:lnTo>
                <a:lnTo>
                  <a:pt x="25641" y="257757"/>
                </a:lnTo>
                <a:lnTo>
                  <a:pt x="44666" y="302836"/>
                </a:lnTo>
                <a:lnTo>
                  <a:pt x="74174" y="341027"/>
                </a:lnTo>
                <a:lnTo>
                  <a:pt x="112367" y="370532"/>
                </a:lnTo>
                <a:lnTo>
                  <a:pt x="157444" y="389553"/>
                </a:lnTo>
                <a:lnTo>
                  <a:pt x="207607" y="396293"/>
                </a:lnTo>
                <a:lnTo>
                  <a:pt x="292550" y="396293"/>
                </a:lnTo>
                <a:lnTo>
                  <a:pt x="255184" y="409672"/>
                </a:lnTo>
                <a:lnTo>
                  <a:pt x="207607" y="415195"/>
                </a:lnTo>
                <a:close/>
              </a:path>
              <a:path w="415290" h="415290">
                <a:moveTo>
                  <a:pt x="292550" y="396293"/>
                </a:moveTo>
                <a:lnTo>
                  <a:pt x="207607" y="396293"/>
                </a:lnTo>
                <a:lnTo>
                  <a:pt x="257770" y="389553"/>
                </a:lnTo>
                <a:lnTo>
                  <a:pt x="302847" y="370532"/>
                </a:lnTo>
                <a:lnTo>
                  <a:pt x="341040" y="341027"/>
                </a:lnTo>
                <a:lnTo>
                  <a:pt x="370548" y="302836"/>
                </a:lnTo>
                <a:lnTo>
                  <a:pt x="389573" y="257757"/>
                </a:lnTo>
                <a:lnTo>
                  <a:pt x="396314" y="207585"/>
                </a:lnTo>
                <a:lnTo>
                  <a:pt x="389517" y="157424"/>
                </a:lnTo>
                <a:lnTo>
                  <a:pt x="372131" y="116294"/>
                </a:lnTo>
                <a:lnTo>
                  <a:pt x="343704" y="77751"/>
                </a:lnTo>
                <a:lnTo>
                  <a:pt x="303946" y="45604"/>
                </a:lnTo>
                <a:lnTo>
                  <a:pt x="257655" y="25642"/>
                </a:lnTo>
                <a:lnTo>
                  <a:pt x="257466" y="25642"/>
                </a:lnTo>
                <a:lnTo>
                  <a:pt x="207607" y="18902"/>
                </a:lnTo>
                <a:lnTo>
                  <a:pt x="292757" y="18902"/>
                </a:lnTo>
                <a:lnTo>
                  <a:pt x="298903" y="21099"/>
                </a:lnTo>
                <a:lnTo>
                  <a:pt x="337451" y="45604"/>
                </a:lnTo>
                <a:lnTo>
                  <a:pt x="369604" y="77751"/>
                </a:lnTo>
                <a:lnTo>
                  <a:pt x="394113" y="116294"/>
                </a:lnTo>
                <a:lnTo>
                  <a:pt x="409733" y="159987"/>
                </a:lnTo>
                <a:lnTo>
                  <a:pt x="415217" y="207585"/>
                </a:lnTo>
                <a:lnTo>
                  <a:pt x="409692" y="255170"/>
                </a:lnTo>
                <a:lnTo>
                  <a:pt x="394051" y="298849"/>
                </a:lnTo>
                <a:lnTo>
                  <a:pt x="369536" y="337380"/>
                </a:lnTo>
                <a:lnTo>
                  <a:pt x="337392" y="369522"/>
                </a:lnTo>
                <a:lnTo>
                  <a:pt x="298860" y="394033"/>
                </a:lnTo>
                <a:lnTo>
                  <a:pt x="292550" y="396293"/>
                </a:lnTo>
                <a:close/>
              </a:path>
              <a:path w="415290" h="415290">
                <a:moveTo>
                  <a:pt x="226928" y="329025"/>
                </a:moveTo>
                <a:lnTo>
                  <a:pt x="181000" y="329025"/>
                </a:lnTo>
                <a:lnTo>
                  <a:pt x="287058" y="222402"/>
                </a:lnTo>
                <a:lnTo>
                  <a:pt x="98572" y="222402"/>
                </a:lnTo>
                <a:lnTo>
                  <a:pt x="98572" y="184597"/>
                </a:lnTo>
                <a:lnTo>
                  <a:pt x="281397" y="184597"/>
                </a:lnTo>
                <a:lnTo>
                  <a:pt x="175487" y="78490"/>
                </a:lnTo>
                <a:lnTo>
                  <a:pt x="221243" y="78490"/>
                </a:lnTo>
                <a:lnTo>
                  <a:pt x="349107" y="206355"/>
                </a:lnTo>
                <a:lnTo>
                  <a:pt x="226928" y="329025"/>
                </a:lnTo>
                <a:close/>
              </a:path>
            </a:pathLst>
          </a:custGeom>
          <a:solidFill>
            <a:srgbClr val="240960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37566" y="9416426"/>
            <a:ext cx="1034415" cy="28789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spc="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sz="1800" b="1" spc="2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A55A9E11-C331-F83A-99F4-C75B22F000C8}"/>
              </a:ext>
            </a:extLst>
          </p:cNvPr>
          <p:cNvSpPr/>
          <p:nvPr/>
        </p:nvSpPr>
        <p:spPr>
          <a:xfrm>
            <a:off x="4394859" y="778751"/>
            <a:ext cx="972688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kern="0" spc="3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PROBLEM STATEMENT</a:t>
            </a:r>
            <a:endParaRPr lang="en-US" sz="5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694209C9-298D-7DBD-D741-ABFC96592E9A}"/>
              </a:ext>
            </a:extLst>
          </p:cNvPr>
          <p:cNvSpPr/>
          <p:nvPr/>
        </p:nvSpPr>
        <p:spPr>
          <a:xfrm>
            <a:off x="364661" y="2037381"/>
            <a:ext cx="8698182" cy="10778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Patients forget to take medicines on time — leading to poor health outcomes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467F79A4-1D66-880A-6B73-47BF3967B038}"/>
              </a:ext>
            </a:extLst>
          </p:cNvPr>
          <p:cNvSpPr/>
          <p:nvPr/>
        </p:nvSpPr>
        <p:spPr>
          <a:xfrm>
            <a:off x="560118" y="4852517"/>
            <a:ext cx="8698182" cy="10778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Doctors have no real-time visibility into whether patients follow prescriptions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7BC79AEE-B10D-483C-E0F1-822F89E53628}"/>
              </a:ext>
            </a:extLst>
          </p:cNvPr>
          <p:cNvSpPr/>
          <p:nvPr/>
        </p:nvSpPr>
        <p:spPr>
          <a:xfrm>
            <a:off x="674418" y="7208754"/>
            <a:ext cx="8469582" cy="1077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Paper prescriptions are easily lost, misread or forgotten entirely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284B33E0-4400-8F01-95E3-0785EB9DD973}"/>
              </a:ext>
            </a:extLst>
          </p:cNvPr>
          <p:cNvSpPr/>
          <p:nvPr/>
        </p:nvSpPr>
        <p:spPr>
          <a:xfrm>
            <a:off x="9726881" y="1945899"/>
            <a:ext cx="7848600" cy="10778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No live communication channel between doctor, patient and caretaker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190006A6-E872-9E46-813F-B9C85EBB46C0}"/>
              </a:ext>
            </a:extLst>
          </p:cNvPr>
          <p:cNvSpPr/>
          <p:nvPr/>
        </p:nvSpPr>
        <p:spPr>
          <a:xfrm>
            <a:off x="9726881" y="4809469"/>
            <a:ext cx="7772400" cy="11208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Hospital staff waste time manually tracking patient medication schedules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323D67E3-40B4-5E62-1B5D-0CDCB799A0AE}"/>
              </a:ext>
            </a:extLst>
          </p:cNvPr>
          <p:cNvSpPr/>
          <p:nvPr/>
        </p:nvSpPr>
        <p:spPr>
          <a:xfrm>
            <a:off x="9910763" y="7208755"/>
            <a:ext cx="7772400" cy="1077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No centralized system to monitor and report adherence across all patients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7998" cy="10286999"/>
            <a:chOff x="0" y="0"/>
            <a:chExt cx="18287998" cy="10286999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75946" y="0"/>
              <a:ext cx="11012052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8437337" cy="880787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0" y="4175926"/>
            <a:ext cx="9406037" cy="6111072"/>
            <a:chOff x="0" y="4175926"/>
            <a:chExt cx="9406037" cy="6111072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9937" y="5907599"/>
              <a:ext cx="3038039" cy="30380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7646173"/>
              <a:ext cx="3813309" cy="26408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3999" y="4175926"/>
              <a:ext cx="262038" cy="26203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6037566" y="9416426"/>
            <a:ext cx="1033780" cy="3105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spc="90" dirty="0">
                <a:solidFill>
                  <a:srgbClr val="240960"/>
                </a:solidFill>
                <a:latin typeface="Tahoma"/>
                <a:cs typeface="Tahoma"/>
              </a:rPr>
              <a:t>Page</a:t>
            </a:r>
            <a:r>
              <a:rPr sz="1800" b="1" spc="295" dirty="0">
                <a:solidFill>
                  <a:srgbClr val="24096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240960"/>
                </a:solidFill>
                <a:latin typeface="Verdana"/>
                <a:cs typeface="Verdana"/>
              </a:rPr>
              <a:t>03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7582B0B0-9A4D-8C47-DD27-E64E99639737}"/>
              </a:ext>
            </a:extLst>
          </p:cNvPr>
          <p:cNvSpPr/>
          <p:nvPr/>
        </p:nvSpPr>
        <p:spPr>
          <a:xfrm>
            <a:off x="4003772" y="650421"/>
            <a:ext cx="1166167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600" b="1" kern="0" spc="3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OBJECTIVE &amp;</a:t>
            </a:r>
            <a:r>
              <a:rPr lang="en-US" sz="6600" dirty="0">
                <a:solidFill>
                  <a:schemeClr val="tx1"/>
                </a:solidFill>
              </a:rPr>
              <a:t> </a:t>
            </a:r>
            <a:r>
              <a:rPr lang="en-US" sz="6600" b="1" kern="0" spc="3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OVERVIEW</a:t>
            </a:r>
            <a:endParaRPr lang="en-US" sz="6600" dirty="0">
              <a:solidFill>
                <a:schemeClr val="tx1"/>
              </a:solidFill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9C99F37A-1E28-411A-C81C-D4A4E0378571}"/>
              </a:ext>
            </a:extLst>
          </p:cNvPr>
          <p:cNvSpPr/>
          <p:nvPr/>
        </p:nvSpPr>
        <p:spPr>
          <a:xfrm>
            <a:off x="245806" y="1937228"/>
            <a:ext cx="16726220" cy="1150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MediCare is a role-based digital health platform built to solve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medication non-adherence through smart automation and AI.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9AF07898-F812-C2C3-4C01-AB43FCEB7B1B}"/>
              </a:ext>
            </a:extLst>
          </p:cNvPr>
          <p:cNvSpPr/>
          <p:nvPr/>
        </p:nvSpPr>
        <p:spPr>
          <a:xfrm>
            <a:off x="11231880" y="77038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✦</a:t>
            </a: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A8AE474D-3221-1733-CDBC-6521825D9A7F}"/>
              </a:ext>
            </a:extLst>
          </p:cNvPr>
          <p:cNvSpPr/>
          <p:nvPr/>
        </p:nvSpPr>
        <p:spPr>
          <a:xfrm>
            <a:off x="609599" y="4060007"/>
            <a:ext cx="807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Enable doctors to issue digital prescriptions with precise per-slot timing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2812457E-9749-3F40-FFE7-2CC6BD558ABB}"/>
              </a:ext>
            </a:extLst>
          </p:cNvPr>
          <p:cNvSpPr/>
          <p:nvPr/>
        </p:nvSpPr>
        <p:spPr>
          <a:xfrm>
            <a:off x="434340" y="6154748"/>
            <a:ext cx="8001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Allow patients to track and mark daily medicine intake in real time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B8EFA366-21DD-EDAC-CD68-32D01355D39E}"/>
              </a:ext>
            </a:extLst>
          </p:cNvPr>
          <p:cNvSpPr/>
          <p:nvPr/>
        </p:nvSpPr>
        <p:spPr>
          <a:xfrm>
            <a:off x="609599" y="7949867"/>
            <a:ext cx="762172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Auto-classify medicine status: On Time, Late or Missed — by clock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9D11B862-CAA0-BEBA-D8E9-DFE8A43B334B}"/>
              </a:ext>
            </a:extLst>
          </p:cNvPr>
          <p:cNvSpPr/>
          <p:nvPr/>
        </p:nvSpPr>
        <p:spPr>
          <a:xfrm>
            <a:off x="8742426" y="4212074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Give hospital staff a live dashboard to monitor all patients per shift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CA22734A-11BD-DAF1-32C5-4D0AA0D17861}"/>
              </a:ext>
            </a:extLst>
          </p:cNvPr>
          <p:cNvSpPr/>
          <p:nvPr/>
        </p:nvSpPr>
        <p:spPr>
          <a:xfrm>
            <a:off x="8698181" y="604198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Give admins full control over user management and approvals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6216052A-8C15-5981-BEF8-2FE6BA137384}"/>
              </a:ext>
            </a:extLst>
          </p:cNvPr>
          <p:cNvSpPr/>
          <p:nvPr/>
        </p:nvSpPr>
        <p:spPr>
          <a:xfrm>
            <a:off x="8601542" y="7914101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Integrate an AI chatbot using patient's real prescription data from DB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600" y="1983456"/>
            <a:ext cx="18287999" cy="6320087"/>
            <a:chOff x="0" y="2246484"/>
            <a:chExt cx="18287999" cy="632008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46484"/>
              <a:ext cx="18287999" cy="632008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7434" y="2688210"/>
              <a:ext cx="17564100" cy="5437505"/>
            </a:xfrm>
            <a:custGeom>
              <a:avLst/>
              <a:gdLst/>
              <a:ahLst/>
              <a:cxnLst/>
              <a:rect l="l" t="t" r="r" b="b"/>
              <a:pathLst>
                <a:path w="17564100" h="5437505">
                  <a:moveTo>
                    <a:pt x="17564083" y="5437137"/>
                  </a:moveTo>
                  <a:lnTo>
                    <a:pt x="0" y="5437137"/>
                  </a:lnTo>
                  <a:lnTo>
                    <a:pt x="0" y="0"/>
                  </a:lnTo>
                  <a:lnTo>
                    <a:pt x="17564083" y="0"/>
                  </a:lnTo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979" y="1975105"/>
            <a:ext cx="1256320" cy="125632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175486" y="7267651"/>
            <a:ext cx="1256320" cy="125632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51949" y="1020178"/>
            <a:ext cx="1256320" cy="125632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34183" y="297159"/>
            <a:ext cx="3185720" cy="2872038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1028702" y="9444473"/>
            <a:ext cx="415290" cy="415290"/>
          </a:xfrm>
          <a:custGeom>
            <a:avLst/>
            <a:gdLst/>
            <a:ahLst/>
            <a:cxnLst/>
            <a:rect l="l" t="t" r="r" b="b"/>
            <a:pathLst>
              <a:path w="415290" h="415290">
                <a:moveTo>
                  <a:pt x="207607" y="415195"/>
                </a:moveTo>
                <a:lnTo>
                  <a:pt x="159648" y="409672"/>
                </a:lnTo>
                <a:lnTo>
                  <a:pt x="159892" y="409672"/>
                </a:lnTo>
                <a:lnTo>
                  <a:pt x="116212" y="394033"/>
                </a:lnTo>
                <a:lnTo>
                  <a:pt x="79242" y="370532"/>
                </a:lnTo>
                <a:lnTo>
                  <a:pt x="45570" y="337380"/>
                </a:lnTo>
                <a:lnTo>
                  <a:pt x="21082" y="298849"/>
                </a:lnTo>
                <a:lnTo>
                  <a:pt x="5476" y="255170"/>
                </a:lnTo>
                <a:lnTo>
                  <a:pt x="0" y="207585"/>
                </a:lnTo>
                <a:lnTo>
                  <a:pt x="5485" y="159987"/>
                </a:lnTo>
                <a:lnTo>
                  <a:pt x="21102" y="116294"/>
                </a:lnTo>
                <a:lnTo>
                  <a:pt x="45607" y="77751"/>
                </a:lnTo>
                <a:lnTo>
                  <a:pt x="77755" y="45604"/>
                </a:lnTo>
                <a:lnTo>
                  <a:pt x="116302" y="21099"/>
                </a:lnTo>
                <a:lnTo>
                  <a:pt x="160001" y="5482"/>
                </a:lnTo>
                <a:lnTo>
                  <a:pt x="207607" y="0"/>
                </a:lnTo>
                <a:lnTo>
                  <a:pt x="255206" y="5482"/>
                </a:lnTo>
                <a:lnTo>
                  <a:pt x="292757" y="18902"/>
                </a:lnTo>
                <a:lnTo>
                  <a:pt x="207607" y="18902"/>
                </a:lnTo>
                <a:lnTo>
                  <a:pt x="157444" y="25642"/>
                </a:lnTo>
                <a:lnTo>
                  <a:pt x="112367" y="44662"/>
                </a:lnTo>
                <a:lnTo>
                  <a:pt x="74174" y="74164"/>
                </a:lnTo>
                <a:lnTo>
                  <a:pt x="44666" y="112351"/>
                </a:lnTo>
                <a:lnTo>
                  <a:pt x="25641" y="157424"/>
                </a:lnTo>
                <a:lnTo>
                  <a:pt x="18899" y="207585"/>
                </a:lnTo>
                <a:lnTo>
                  <a:pt x="25641" y="257757"/>
                </a:lnTo>
                <a:lnTo>
                  <a:pt x="44666" y="302836"/>
                </a:lnTo>
                <a:lnTo>
                  <a:pt x="74174" y="341027"/>
                </a:lnTo>
                <a:lnTo>
                  <a:pt x="112367" y="370532"/>
                </a:lnTo>
                <a:lnTo>
                  <a:pt x="157444" y="389553"/>
                </a:lnTo>
                <a:lnTo>
                  <a:pt x="207607" y="396293"/>
                </a:lnTo>
                <a:lnTo>
                  <a:pt x="292550" y="396293"/>
                </a:lnTo>
                <a:lnTo>
                  <a:pt x="255184" y="409672"/>
                </a:lnTo>
                <a:lnTo>
                  <a:pt x="207607" y="415195"/>
                </a:lnTo>
                <a:close/>
              </a:path>
              <a:path w="415290" h="415290">
                <a:moveTo>
                  <a:pt x="292550" y="396293"/>
                </a:moveTo>
                <a:lnTo>
                  <a:pt x="207607" y="396293"/>
                </a:lnTo>
                <a:lnTo>
                  <a:pt x="257770" y="389553"/>
                </a:lnTo>
                <a:lnTo>
                  <a:pt x="302847" y="370532"/>
                </a:lnTo>
                <a:lnTo>
                  <a:pt x="341040" y="341027"/>
                </a:lnTo>
                <a:lnTo>
                  <a:pt x="370548" y="302836"/>
                </a:lnTo>
                <a:lnTo>
                  <a:pt x="389573" y="257757"/>
                </a:lnTo>
                <a:lnTo>
                  <a:pt x="396314" y="207585"/>
                </a:lnTo>
                <a:lnTo>
                  <a:pt x="389517" y="157424"/>
                </a:lnTo>
                <a:lnTo>
                  <a:pt x="372131" y="116294"/>
                </a:lnTo>
                <a:lnTo>
                  <a:pt x="343704" y="77751"/>
                </a:lnTo>
                <a:lnTo>
                  <a:pt x="303946" y="45604"/>
                </a:lnTo>
                <a:lnTo>
                  <a:pt x="257655" y="25642"/>
                </a:lnTo>
                <a:lnTo>
                  <a:pt x="257466" y="25642"/>
                </a:lnTo>
                <a:lnTo>
                  <a:pt x="207607" y="18902"/>
                </a:lnTo>
                <a:lnTo>
                  <a:pt x="292757" y="18902"/>
                </a:lnTo>
                <a:lnTo>
                  <a:pt x="298903" y="21099"/>
                </a:lnTo>
                <a:lnTo>
                  <a:pt x="337451" y="45604"/>
                </a:lnTo>
                <a:lnTo>
                  <a:pt x="369604" y="77751"/>
                </a:lnTo>
                <a:lnTo>
                  <a:pt x="394113" y="116294"/>
                </a:lnTo>
                <a:lnTo>
                  <a:pt x="409733" y="159987"/>
                </a:lnTo>
                <a:lnTo>
                  <a:pt x="415217" y="207585"/>
                </a:lnTo>
                <a:lnTo>
                  <a:pt x="409692" y="255170"/>
                </a:lnTo>
                <a:lnTo>
                  <a:pt x="394051" y="298849"/>
                </a:lnTo>
                <a:lnTo>
                  <a:pt x="369536" y="337380"/>
                </a:lnTo>
                <a:lnTo>
                  <a:pt x="337392" y="369522"/>
                </a:lnTo>
                <a:lnTo>
                  <a:pt x="298860" y="394033"/>
                </a:lnTo>
                <a:lnTo>
                  <a:pt x="292550" y="396293"/>
                </a:lnTo>
                <a:close/>
              </a:path>
              <a:path w="415290" h="415290">
                <a:moveTo>
                  <a:pt x="226928" y="329025"/>
                </a:moveTo>
                <a:lnTo>
                  <a:pt x="181000" y="329025"/>
                </a:lnTo>
                <a:lnTo>
                  <a:pt x="287058" y="222402"/>
                </a:lnTo>
                <a:lnTo>
                  <a:pt x="98572" y="222402"/>
                </a:lnTo>
                <a:lnTo>
                  <a:pt x="98572" y="184597"/>
                </a:lnTo>
                <a:lnTo>
                  <a:pt x="281397" y="184597"/>
                </a:lnTo>
                <a:lnTo>
                  <a:pt x="175487" y="78490"/>
                </a:lnTo>
                <a:lnTo>
                  <a:pt x="221243" y="78490"/>
                </a:lnTo>
                <a:lnTo>
                  <a:pt x="349107" y="206355"/>
                </a:lnTo>
                <a:lnTo>
                  <a:pt x="226928" y="329025"/>
                </a:lnTo>
                <a:close/>
              </a:path>
            </a:pathLst>
          </a:custGeom>
          <a:solidFill>
            <a:srgbClr val="2409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6037566" y="9416426"/>
            <a:ext cx="1056005" cy="3105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spc="90" dirty="0">
                <a:solidFill>
                  <a:srgbClr val="240960"/>
                </a:solidFill>
                <a:latin typeface="Tahoma"/>
                <a:cs typeface="Tahoma"/>
              </a:rPr>
              <a:t>Page</a:t>
            </a:r>
            <a:r>
              <a:rPr sz="1800" b="1" spc="295" dirty="0">
                <a:solidFill>
                  <a:srgbClr val="24096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240960"/>
                </a:solidFill>
                <a:latin typeface="Verdana"/>
                <a:cs typeface="Verdana"/>
              </a:rPr>
              <a:t>04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44A47176-94D9-9F6F-94E2-A8DDD3D7E8E8}"/>
              </a:ext>
            </a:extLst>
          </p:cNvPr>
          <p:cNvSpPr/>
          <p:nvPr/>
        </p:nvSpPr>
        <p:spPr>
          <a:xfrm>
            <a:off x="4619154" y="1284557"/>
            <a:ext cx="861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6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KEY FEATURES</a:t>
            </a:r>
            <a:endParaRPr lang="en-US" sz="5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690C330A-3247-3793-43B4-3E82A7CC3D23}"/>
              </a:ext>
            </a:extLst>
          </p:cNvPr>
          <p:cNvSpPr/>
          <p:nvPr/>
        </p:nvSpPr>
        <p:spPr>
          <a:xfrm>
            <a:off x="1133856" y="2965229"/>
            <a:ext cx="2121408" cy="838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DOCTOR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4F964ADB-81A2-85B2-6636-026C20D35E60}"/>
              </a:ext>
            </a:extLst>
          </p:cNvPr>
          <p:cNvSpPr/>
          <p:nvPr/>
        </p:nvSpPr>
        <p:spPr>
          <a:xfrm>
            <a:off x="1159863" y="3716148"/>
            <a:ext cx="2319528" cy="1065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• Digital prescriptions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B03D3663-B777-5D6C-412C-92BEA46BACB6}"/>
              </a:ext>
            </a:extLst>
          </p:cNvPr>
          <p:cNvSpPr/>
          <p:nvPr/>
        </p:nvSpPr>
        <p:spPr>
          <a:xfrm>
            <a:off x="1159863" y="4819064"/>
            <a:ext cx="2700528" cy="12622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• Per-slot meal &amp; time settings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158EB3E9-A51A-7ADD-E039-039754E65A92}"/>
              </a:ext>
            </a:extLst>
          </p:cNvPr>
          <p:cNvSpPr/>
          <p:nvPr/>
        </p:nvSpPr>
        <p:spPr>
          <a:xfrm>
            <a:off x="1159863" y="5736712"/>
            <a:ext cx="3153918" cy="11876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• Accept patient requests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5F4C041B-E93E-9D11-5122-A026019F700B}"/>
              </a:ext>
            </a:extLst>
          </p:cNvPr>
          <p:cNvSpPr/>
          <p:nvPr/>
        </p:nvSpPr>
        <p:spPr>
          <a:xfrm>
            <a:off x="1241976" y="6715637"/>
            <a:ext cx="2523546" cy="10550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• Track adherence %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7F07A72E-1D8D-830D-FC90-2FD995F423B3}"/>
              </a:ext>
            </a:extLst>
          </p:cNvPr>
          <p:cNvSpPr/>
          <p:nvPr/>
        </p:nvSpPr>
        <p:spPr>
          <a:xfrm>
            <a:off x="5366986" y="2870355"/>
            <a:ext cx="2761773" cy="623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PATIENT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A3A50028-23BA-79A9-E6D3-F9892857D2B4}"/>
              </a:ext>
            </a:extLst>
          </p:cNvPr>
          <p:cNvSpPr/>
          <p:nvPr/>
        </p:nvSpPr>
        <p:spPr>
          <a:xfrm>
            <a:off x="5366987" y="3871190"/>
            <a:ext cx="3214116" cy="8914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• Today's medicine schedule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7090AF5E-E80B-582E-D73F-4EF84AA5F0DB}"/>
              </a:ext>
            </a:extLst>
          </p:cNvPr>
          <p:cNvSpPr/>
          <p:nvPr/>
        </p:nvSpPr>
        <p:spPr>
          <a:xfrm>
            <a:off x="5366987" y="4726555"/>
            <a:ext cx="4329684" cy="945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• Mark taken (auto On Time/Late)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D9B113EB-2D21-B0C7-F7CC-118BFD0B97AC}"/>
              </a:ext>
            </a:extLst>
          </p:cNvPr>
          <p:cNvSpPr/>
          <p:nvPr/>
        </p:nvSpPr>
        <p:spPr>
          <a:xfrm>
            <a:off x="5366987" y="5763521"/>
            <a:ext cx="31539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• AI chatbot queries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12B311E5-AE95-14B5-A4C6-84CB89773F2F}"/>
              </a:ext>
            </a:extLst>
          </p:cNvPr>
          <p:cNvSpPr/>
          <p:nvPr/>
        </p:nvSpPr>
        <p:spPr>
          <a:xfrm>
            <a:off x="5366987" y="6276247"/>
            <a:ext cx="3153918" cy="10550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• Prescription history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15B5C224-91F6-9AA0-75D5-8F611270B129}"/>
              </a:ext>
            </a:extLst>
          </p:cNvPr>
          <p:cNvSpPr/>
          <p:nvPr/>
        </p:nvSpPr>
        <p:spPr>
          <a:xfrm>
            <a:off x="10159241" y="3249971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STAFF 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AC9E9F6C-2C6F-6EE3-8EB0-74A38E088B9D}"/>
              </a:ext>
            </a:extLst>
          </p:cNvPr>
          <p:cNvSpPr/>
          <p:nvPr/>
        </p:nvSpPr>
        <p:spPr>
          <a:xfrm>
            <a:off x="10279366" y="3947943"/>
            <a:ext cx="3214116" cy="974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• Monitor all patients live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28">
            <a:extLst>
              <a:ext uri="{FF2B5EF4-FFF2-40B4-BE49-F238E27FC236}">
                <a16:creationId xmlns:a16="http://schemas.microsoft.com/office/drawing/2014/main" id="{92406FA1-77D9-BC6E-0F83-82ECFF937A0F}"/>
              </a:ext>
            </a:extLst>
          </p:cNvPr>
          <p:cNvSpPr/>
          <p:nvPr/>
        </p:nvSpPr>
        <p:spPr>
          <a:xfrm>
            <a:off x="10279366" y="4922844"/>
            <a:ext cx="3214116" cy="9859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• Mark medicines per shift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A65C605C-DAC7-321F-FA53-1FE63E8DF116}"/>
              </a:ext>
            </a:extLst>
          </p:cNvPr>
          <p:cNvSpPr/>
          <p:nvPr/>
        </p:nvSpPr>
        <p:spPr>
          <a:xfrm>
            <a:off x="10279366" y="5908808"/>
            <a:ext cx="3214116" cy="1115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• Live shift-based dashboard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3">
            <a:extLst>
              <a:ext uri="{FF2B5EF4-FFF2-40B4-BE49-F238E27FC236}">
                <a16:creationId xmlns:a16="http://schemas.microsoft.com/office/drawing/2014/main" id="{EE980FDE-6E92-CDA7-9B17-58867962C4E2}"/>
              </a:ext>
            </a:extLst>
          </p:cNvPr>
          <p:cNvSpPr/>
          <p:nvPr/>
        </p:nvSpPr>
        <p:spPr>
          <a:xfrm>
            <a:off x="13929803" y="3267960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ADMIN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FF64DEE4-09FE-37A8-5FE6-13E5DE254E2A}"/>
              </a:ext>
            </a:extLst>
          </p:cNvPr>
          <p:cNvSpPr/>
          <p:nvPr/>
        </p:nvSpPr>
        <p:spPr>
          <a:xfrm>
            <a:off x="13837798" y="4002502"/>
            <a:ext cx="2811681" cy="9457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• Approve/reject doctors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96F52543-D453-CEED-9DD6-CE693BC6ED8D}"/>
              </a:ext>
            </a:extLst>
          </p:cNvPr>
          <p:cNvSpPr/>
          <p:nvPr/>
        </p:nvSpPr>
        <p:spPr>
          <a:xfrm>
            <a:off x="13837798" y="6043073"/>
            <a:ext cx="3290339" cy="10550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•Activate/deactivate users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970C5269-8AE2-3FEB-C01D-41E7AE16BEF5}"/>
              </a:ext>
            </a:extLst>
          </p:cNvPr>
          <p:cNvSpPr/>
          <p:nvPr/>
        </p:nvSpPr>
        <p:spPr>
          <a:xfrm>
            <a:off x="13837798" y="5007770"/>
            <a:ext cx="2811680" cy="1115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• System-wide stats &amp; charts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29176" y="2339407"/>
            <a:ext cx="1256320" cy="1256320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028702" y="9444473"/>
            <a:ext cx="415290" cy="415290"/>
          </a:xfrm>
          <a:custGeom>
            <a:avLst/>
            <a:gdLst/>
            <a:ahLst/>
            <a:cxnLst/>
            <a:rect l="l" t="t" r="r" b="b"/>
            <a:pathLst>
              <a:path w="415290" h="415290">
                <a:moveTo>
                  <a:pt x="207607" y="415195"/>
                </a:moveTo>
                <a:lnTo>
                  <a:pt x="159648" y="409672"/>
                </a:lnTo>
                <a:lnTo>
                  <a:pt x="159892" y="409672"/>
                </a:lnTo>
                <a:lnTo>
                  <a:pt x="116212" y="394033"/>
                </a:lnTo>
                <a:lnTo>
                  <a:pt x="79242" y="370532"/>
                </a:lnTo>
                <a:lnTo>
                  <a:pt x="45570" y="337380"/>
                </a:lnTo>
                <a:lnTo>
                  <a:pt x="21082" y="298849"/>
                </a:lnTo>
                <a:lnTo>
                  <a:pt x="5476" y="255170"/>
                </a:lnTo>
                <a:lnTo>
                  <a:pt x="0" y="207585"/>
                </a:lnTo>
                <a:lnTo>
                  <a:pt x="5485" y="159987"/>
                </a:lnTo>
                <a:lnTo>
                  <a:pt x="21102" y="116294"/>
                </a:lnTo>
                <a:lnTo>
                  <a:pt x="45607" y="77751"/>
                </a:lnTo>
                <a:lnTo>
                  <a:pt x="77755" y="45604"/>
                </a:lnTo>
                <a:lnTo>
                  <a:pt x="116302" y="21099"/>
                </a:lnTo>
                <a:lnTo>
                  <a:pt x="160001" y="5482"/>
                </a:lnTo>
                <a:lnTo>
                  <a:pt x="207607" y="0"/>
                </a:lnTo>
                <a:lnTo>
                  <a:pt x="255206" y="5482"/>
                </a:lnTo>
                <a:lnTo>
                  <a:pt x="292757" y="18902"/>
                </a:lnTo>
                <a:lnTo>
                  <a:pt x="207607" y="18902"/>
                </a:lnTo>
                <a:lnTo>
                  <a:pt x="157444" y="25642"/>
                </a:lnTo>
                <a:lnTo>
                  <a:pt x="112367" y="44662"/>
                </a:lnTo>
                <a:lnTo>
                  <a:pt x="74174" y="74164"/>
                </a:lnTo>
                <a:lnTo>
                  <a:pt x="44666" y="112351"/>
                </a:lnTo>
                <a:lnTo>
                  <a:pt x="25641" y="157424"/>
                </a:lnTo>
                <a:lnTo>
                  <a:pt x="18899" y="207585"/>
                </a:lnTo>
                <a:lnTo>
                  <a:pt x="25641" y="257757"/>
                </a:lnTo>
                <a:lnTo>
                  <a:pt x="44666" y="302836"/>
                </a:lnTo>
                <a:lnTo>
                  <a:pt x="74174" y="341027"/>
                </a:lnTo>
                <a:lnTo>
                  <a:pt x="112367" y="370532"/>
                </a:lnTo>
                <a:lnTo>
                  <a:pt x="157444" y="389553"/>
                </a:lnTo>
                <a:lnTo>
                  <a:pt x="207607" y="396293"/>
                </a:lnTo>
                <a:lnTo>
                  <a:pt x="292550" y="396293"/>
                </a:lnTo>
                <a:lnTo>
                  <a:pt x="255184" y="409672"/>
                </a:lnTo>
                <a:lnTo>
                  <a:pt x="207607" y="415195"/>
                </a:lnTo>
                <a:close/>
              </a:path>
              <a:path w="415290" h="415290">
                <a:moveTo>
                  <a:pt x="292550" y="396293"/>
                </a:moveTo>
                <a:lnTo>
                  <a:pt x="207607" y="396293"/>
                </a:lnTo>
                <a:lnTo>
                  <a:pt x="257770" y="389553"/>
                </a:lnTo>
                <a:lnTo>
                  <a:pt x="302847" y="370532"/>
                </a:lnTo>
                <a:lnTo>
                  <a:pt x="341040" y="341027"/>
                </a:lnTo>
                <a:lnTo>
                  <a:pt x="370548" y="302836"/>
                </a:lnTo>
                <a:lnTo>
                  <a:pt x="389573" y="257757"/>
                </a:lnTo>
                <a:lnTo>
                  <a:pt x="396314" y="207585"/>
                </a:lnTo>
                <a:lnTo>
                  <a:pt x="389517" y="157424"/>
                </a:lnTo>
                <a:lnTo>
                  <a:pt x="372131" y="116294"/>
                </a:lnTo>
                <a:lnTo>
                  <a:pt x="343704" y="77751"/>
                </a:lnTo>
                <a:lnTo>
                  <a:pt x="303946" y="45604"/>
                </a:lnTo>
                <a:lnTo>
                  <a:pt x="257655" y="25642"/>
                </a:lnTo>
                <a:lnTo>
                  <a:pt x="257466" y="25642"/>
                </a:lnTo>
                <a:lnTo>
                  <a:pt x="207607" y="18902"/>
                </a:lnTo>
                <a:lnTo>
                  <a:pt x="292757" y="18902"/>
                </a:lnTo>
                <a:lnTo>
                  <a:pt x="298903" y="21099"/>
                </a:lnTo>
                <a:lnTo>
                  <a:pt x="337451" y="45604"/>
                </a:lnTo>
                <a:lnTo>
                  <a:pt x="369604" y="77751"/>
                </a:lnTo>
                <a:lnTo>
                  <a:pt x="394113" y="116294"/>
                </a:lnTo>
                <a:lnTo>
                  <a:pt x="409733" y="159987"/>
                </a:lnTo>
                <a:lnTo>
                  <a:pt x="415217" y="207585"/>
                </a:lnTo>
                <a:lnTo>
                  <a:pt x="409692" y="255170"/>
                </a:lnTo>
                <a:lnTo>
                  <a:pt x="394051" y="298849"/>
                </a:lnTo>
                <a:lnTo>
                  <a:pt x="369536" y="337380"/>
                </a:lnTo>
                <a:lnTo>
                  <a:pt x="337392" y="369522"/>
                </a:lnTo>
                <a:lnTo>
                  <a:pt x="298860" y="394033"/>
                </a:lnTo>
                <a:lnTo>
                  <a:pt x="292550" y="396293"/>
                </a:lnTo>
                <a:close/>
              </a:path>
              <a:path w="415290" h="415290">
                <a:moveTo>
                  <a:pt x="226928" y="329025"/>
                </a:moveTo>
                <a:lnTo>
                  <a:pt x="181000" y="329025"/>
                </a:lnTo>
                <a:lnTo>
                  <a:pt x="287058" y="222402"/>
                </a:lnTo>
                <a:lnTo>
                  <a:pt x="98572" y="222402"/>
                </a:lnTo>
                <a:lnTo>
                  <a:pt x="98572" y="184597"/>
                </a:lnTo>
                <a:lnTo>
                  <a:pt x="281397" y="184597"/>
                </a:lnTo>
                <a:lnTo>
                  <a:pt x="175487" y="78490"/>
                </a:lnTo>
                <a:lnTo>
                  <a:pt x="221243" y="78490"/>
                </a:lnTo>
                <a:lnTo>
                  <a:pt x="349107" y="206355"/>
                </a:lnTo>
                <a:lnTo>
                  <a:pt x="226928" y="329025"/>
                </a:lnTo>
                <a:close/>
              </a:path>
            </a:pathLst>
          </a:custGeom>
          <a:solidFill>
            <a:srgbClr val="2409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68628" y="6880929"/>
            <a:ext cx="2719372" cy="253549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6037566" y="9416426"/>
            <a:ext cx="1033780" cy="3105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spc="90" dirty="0">
                <a:solidFill>
                  <a:srgbClr val="240960"/>
                </a:solidFill>
                <a:latin typeface="Tahoma"/>
                <a:cs typeface="Tahoma"/>
              </a:rPr>
              <a:t>Page</a:t>
            </a:r>
            <a:r>
              <a:rPr sz="1800" b="1" spc="295" dirty="0">
                <a:solidFill>
                  <a:srgbClr val="24096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240960"/>
                </a:solidFill>
                <a:latin typeface="Verdana"/>
                <a:cs typeface="Verdana"/>
              </a:rPr>
              <a:t>05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85854904-365F-A03E-BEE4-3FF508CAA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4EB069-AAFC-4C98-D018-4FE8C70839EA}"/>
              </a:ext>
            </a:extLst>
          </p:cNvPr>
          <p:cNvSpPr txBox="1"/>
          <p:nvPr/>
        </p:nvSpPr>
        <p:spPr>
          <a:xfrm>
            <a:off x="517491" y="65910"/>
            <a:ext cx="35973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kern="0" spc="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DOCTOR </a:t>
            </a:r>
            <a:r>
              <a:rPr lang="en-US" sz="3600" b="1" kern="0" spc="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</a:t>
            </a:r>
          </a:p>
          <a:p>
            <a:pPr algn="ctr"/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79766AB-FF34-3848-C87E-683A475FC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88403"/>
            <a:ext cx="13030200" cy="471707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DFB180F-F528-4F40-1CDB-A5E81CE67FCD}"/>
              </a:ext>
            </a:extLst>
          </p:cNvPr>
          <p:cNvSpPr txBox="1"/>
          <p:nvPr/>
        </p:nvSpPr>
        <p:spPr>
          <a:xfrm>
            <a:off x="228600" y="1409700"/>
            <a:ext cx="3809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Issue prescriptions, accept patients, track and monitor medication adherence.</a:t>
            </a:r>
            <a:endParaRPr lang="en-IN" sz="3000" dirty="0">
              <a:solidFill>
                <a:schemeClr val="tx1"/>
              </a:solidFill>
              <a:latin typeface="Times New Roman" panose="02020603050405020304" pitchFamily="18" charset="0"/>
              <a:ea typeface="Microsoft Himalaya" panose="01010100010101010101" pitchFamily="2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EB46C8-0843-FD82-7CD5-66DB8848DA8E}"/>
              </a:ext>
            </a:extLst>
          </p:cNvPr>
          <p:cNvSpPr txBox="1"/>
          <p:nvPr/>
        </p:nvSpPr>
        <p:spPr>
          <a:xfrm>
            <a:off x="14020800" y="5372101"/>
            <a:ext cx="3429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spc="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PATIENT </a:t>
            </a:r>
            <a:r>
              <a:rPr lang="en-US" sz="3600" b="1" kern="0" spc="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F57FC5-5715-50C0-3E04-08FA52B2EEAA}"/>
              </a:ext>
            </a:extLst>
          </p:cNvPr>
          <p:cNvSpPr txBox="1"/>
          <p:nvPr/>
        </p:nvSpPr>
        <p:spPr>
          <a:xfrm>
            <a:off x="14533130" y="6582698"/>
            <a:ext cx="28822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View daily schedule, mark medicines, chat with AI assistant.</a:t>
            </a:r>
            <a:endParaRPr lang="en-IN" sz="3000" dirty="0">
              <a:solidFill>
                <a:schemeClr val="tx1"/>
              </a:solidFill>
              <a:latin typeface="Times New Roman" panose="02020603050405020304" pitchFamily="18" charset="0"/>
              <a:ea typeface="Microsoft Himalaya" panose="01010100010101010101" pitchFamily="2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9BF71AB-A84A-2391-9E58-51DA90FB31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662" y="5152104"/>
            <a:ext cx="12657594" cy="4941652"/>
          </a:xfrm>
          <a:prstGeom prst="rect">
            <a:avLst/>
          </a:prstGeom>
        </p:spPr>
      </p:pic>
      <p:pic>
        <p:nvPicPr>
          <p:cNvPr id="28" name="object 17">
            <a:extLst>
              <a:ext uri="{FF2B5EF4-FFF2-40B4-BE49-F238E27FC236}">
                <a16:creationId xmlns:a16="http://schemas.microsoft.com/office/drawing/2014/main" id="{79347C54-8A5D-25D0-1246-A088DFD6446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 rot="10800000">
            <a:off x="-2358" y="3577108"/>
            <a:ext cx="2719372" cy="25354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74314" y="2306582"/>
            <a:ext cx="1513686" cy="189203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187" y="149893"/>
            <a:ext cx="1256320" cy="125632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028702" y="9444473"/>
            <a:ext cx="415290" cy="415290"/>
          </a:xfrm>
          <a:custGeom>
            <a:avLst/>
            <a:gdLst/>
            <a:ahLst/>
            <a:cxnLst/>
            <a:rect l="l" t="t" r="r" b="b"/>
            <a:pathLst>
              <a:path w="415290" h="415290">
                <a:moveTo>
                  <a:pt x="207607" y="415195"/>
                </a:moveTo>
                <a:lnTo>
                  <a:pt x="159648" y="409672"/>
                </a:lnTo>
                <a:lnTo>
                  <a:pt x="159892" y="409672"/>
                </a:lnTo>
                <a:lnTo>
                  <a:pt x="116212" y="394033"/>
                </a:lnTo>
                <a:lnTo>
                  <a:pt x="79242" y="370532"/>
                </a:lnTo>
                <a:lnTo>
                  <a:pt x="45570" y="337380"/>
                </a:lnTo>
                <a:lnTo>
                  <a:pt x="21082" y="298849"/>
                </a:lnTo>
                <a:lnTo>
                  <a:pt x="5476" y="255170"/>
                </a:lnTo>
                <a:lnTo>
                  <a:pt x="0" y="207585"/>
                </a:lnTo>
                <a:lnTo>
                  <a:pt x="5485" y="159987"/>
                </a:lnTo>
                <a:lnTo>
                  <a:pt x="21102" y="116294"/>
                </a:lnTo>
                <a:lnTo>
                  <a:pt x="45607" y="77751"/>
                </a:lnTo>
                <a:lnTo>
                  <a:pt x="77755" y="45604"/>
                </a:lnTo>
                <a:lnTo>
                  <a:pt x="116302" y="21099"/>
                </a:lnTo>
                <a:lnTo>
                  <a:pt x="160001" y="5482"/>
                </a:lnTo>
                <a:lnTo>
                  <a:pt x="207607" y="0"/>
                </a:lnTo>
                <a:lnTo>
                  <a:pt x="255206" y="5482"/>
                </a:lnTo>
                <a:lnTo>
                  <a:pt x="292757" y="18902"/>
                </a:lnTo>
                <a:lnTo>
                  <a:pt x="207607" y="18902"/>
                </a:lnTo>
                <a:lnTo>
                  <a:pt x="157444" y="25642"/>
                </a:lnTo>
                <a:lnTo>
                  <a:pt x="112367" y="44662"/>
                </a:lnTo>
                <a:lnTo>
                  <a:pt x="74174" y="74164"/>
                </a:lnTo>
                <a:lnTo>
                  <a:pt x="44666" y="112351"/>
                </a:lnTo>
                <a:lnTo>
                  <a:pt x="25641" y="157424"/>
                </a:lnTo>
                <a:lnTo>
                  <a:pt x="18899" y="207585"/>
                </a:lnTo>
                <a:lnTo>
                  <a:pt x="25641" y="257757"/>
                </a:lnTo>
                <a:lnTo>
                  <a:pt x="44666" y="302836"/>
                </a:lnTo>
                <a:lnTo>
                  <a:pt x="74174" y="341027"/>
                </a:lnTo>
                <a:lnTo>
                  <a:pt x="112367" y="370532"/>
                </a:lnTo>
                <a:lnTo>
                  <a:pt x="157444" y="389553"/>
                </a:lnTo>
                <a:lnTo>
                  <a:pt x="207607" y="396293"/>
                </a:lnTo>
                <a:lnTo>
                  <a:pt x="292550" y="396293"/>
                </a:lnTo>
                <a:lnTo>
                  <a:pt x="255184" y="409672"/>
                </a:lnTo>
                <a:lnTo>
                  <a:pt x="207607" y="415195"/>
                </a:lnTo>
                <a:close/>
              </a:path>
              <a:path w="415290" h="415290">
                <a:moveTo>
                  <a:pt x="292550" y="396293"/>
                </a:moveTo>
                <a:lnTo>
                  <a:pt x="207607" y="396293"/>
                </a:lnTo>
                <a:lnTo>
                  <a:pt x="257770" y="389553"/>
                </a:lnTo>
                <a:lnTo>
                  <a:pt x="302847" y="370532"/>
                </a:lnTo>
                <a:lnTo>
                  <a:pt x="341040" y="341027"/>
                </a:lnTo>
                <a:lnTo>
                  <a:pt x="370548" y="302836"/>
                </a:lnTo>
                <a:lnTo>
                  <a:pt x="389573" y="257757"/>
                </a:lnTo>
                <a:lnTo>
                  <a:pt x="396314" y="207585"/>
                </a:lnTo>
                <a:lnTo>
                  <a:pt x="389517" y="157424"/>
                </a:lnTo>
                <a:lnTo>
                  <a:pt x="372131" y="116294"/>
                </a:lnTo>
                <a:lnTo>
                  <a:pt x="343704" y="77751"/>
                </a:lnTo>
                <a:lnTo>
                  <a:pt x="303946" y="45604"/>
                </a:lnTo>
                <a:lnTo>
                  <a:pt x="257655" y="25642"/>
                </a:lnTo>
                <a:lnTo>
                  <a:pt x="257466" y="25642"/>
                </a:lnTo>
                <a:lnTo>
                  <a:pt x="207607" y="18902"/>
                </a:lnTo>
                <a:lnTo>
                  <a:pt x="292757" y="18902"/>
                </a:lnTo>
                <a:lnTo>
                  <a:pt x="298903" y="21099"/>
                </a:lnTo>
                <a:lnTo>
                  <a:pt x="337451" y="45604"/>
                </a:lnTo>
                <a:lnTo>
                  <a:pt x="369604" y="77751"/>
                </a:lnTo>
                <a:lnTo>
                  <a:pt x="394113" y="116294"/>
                </a:lnTo>
                <a:lnTo>
                  <a:pt x="409733" y="159987"/>
                </a:lnTo>
                <a:lnTo>
                  <a:pt x="415217" y="207585"/>
                </a:lnTo>
                <a:lnTo>
                  <a:pt x="409692" y="255170"/>
                </a:lnTo>
                <a:lnTo>
                  <a:pt x="394051" y="298849"/>
                </a:lnTo>
                <a:lnTo>
                  <a:pt x="369536" y="337380"/>
                </a:lnTo>
                <a:lnTo>
                  <a:pt x="337392" y="369522"/>
                </a:lnTo>
                <a:lnTo>
                  <a:pt x="298860" y="394033"/>
                </a:lnTo>
                <a:lnTo>
                  <a:pt x="292550" y="396293"/>
                </a:lnTo>
                <a:close/>
              </a:path>
              <a:path w="415290" h="415290">
                <a:moveTo>
                  <a:pt x="226928" y="329025"/>
                </a:moveTo>
                <a:lnTo>
                  <a:pt x="181000" y="329025"/>
                </a:lnTo>
                <a:lnTo>
                  <a:pt x="287058" y="222402"/>
                </a:lnTo>
                <a:lnTo>
                  <a:pt x="98572" y="222402"/>
                </a:lnTo>
                <a:lnTo>
                  <a:pt x="98572" y="184597"/>
                </a:lnTo>
                <a:lnTo>
                  <a:pt x="281397" y="184597"/>
                </a:lnTo>
                <a:lnTo>
                  <a:pt x="175487" y="78490"/>
                </a:lnTo>
                <a:lnTo>
                  <a:pt x="221243" y="78490"/>
                </a:lnTo>
                <a:lnTo>
                  <a:pt x="349107" y="206355"/>
                </a:lnTo>
                <a:lnTo>
                  <a:pt x="226928" y="329025"/>
                </a:lnTo>
                <a:close/>
              </a:path>
            </a:pathLst>
          </a:custGeom>
          <a:solidFill>
            <a:srgbClr val="2409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22108" y="5233216"/>
            <a:ext cx="1256320" cy="125632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6037566" y="9416426"/>
            <a:ext cx="1043940" cy="3105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spc="90" dirty="0">
                <a:solidFill>
                  <a:srgbClr val="240960"/>
                </a:solidFill>
                <a:latin typeface="Tahoma"/>
                <a:cs typeface="Tahoma"/>
              </a:rPr>
              <a:t>Page</a:t>
            </a:r>
            <a:r>
              <a:rPr sz="1800" b="1" spc="295" dirty="0">
                <a:solidFill>
                  <a:srgbClr val="24096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240960"/>
                </a:solidFill>
                <a:latin typeface="Verdana"/>
                <a:cs typeface="Verdana"/>
              </a:rPr>
              <a:t>06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CB4DBAE-00D5-BED5-DEAD-4A77BFD01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600" y="359850"/>
            <a:ext cx="13252282" cy="44958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F05F21B-7C56-1FE3-37A9-2FD075958B04}"/>
              </a:ext>
            </a:extLst>
          </p:cNvPr>
          <p:cNvSpPr txBox="1"/>
          <p:nvPr/>
        </p:nvSpPr>
        <p:spPr>
          <a:xfrm>
            <a:off x="217050" y="154357"/>
            <a:ext cx="33594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kern="0" spc="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STAFF DASHBOARD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275A10-0ACB-CE79-7BA3-905B2FA159D0}"/>
              </a:ext>
            </a:extLst>
          </p:cNvPr>
          <p:cNvSpPr txBox="1"/>
          <p:nvPr/>
        </p:nvSpPr>
        <p:spPr>
          <a:xfrm>
            <a:off x="293249" y="1908683"/>
            <a:ext cx="32070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Monitor all patients live, mark medicines every shift.</a:t>
            </a:r>
            <a:endParaRPr lang="en-IN" sz="3000" dirty="0">
              <a:solidFill>
                <a:schemeClr val="tx1"/>
              </a:solidFill>
              <a:latin typeface="Times New Roman" panose="02020603050405020304" pitchFamily="18" charset="0"/>
              <a:ea typeface="Microsoft Himalaya" panose="01010100010101010101" pitchFamily="2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5E566C8-198B-4DC1-D880-A62CEBF201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370" y="5215500"/>
            <a:ext cx="12703371" cy="463979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81458A5-E346-CC9D-5703-44DDB6F0A1A6}"/>
              </a:ext>
            </a:extLst>
          </p:cNvPr>
          <p:cNvSpPr txBox="1"/>
          <p:nvPr/>
        </p:nvSpPr>
        <p:spPr>
          <a:xfrm>
            <a:off x="13639799" y="5215500"/>
            <a:ext cx="4311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kern="0" spc="2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ADMIN DASHBOARD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C972D1-B579-1B4E-E458-7E49AF45AE52}"/>
              </a:ext>
            </a:extLst>
          </p:cNvPr>
          <p:cNvSpPr txBox="1"/>
          <p:nvPr/>
        </p:nvSpPr>
        <p:spPr>
          <a:xfrm>
            <a:off x="13918417" y="6886751"/>
            <a:ext cx="40326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ea typeface="Microsoft Himalaya" panose="01010100010101010101" pitchFamily="2" charset="0"/>
                <a:cs typeface="Times New Roman" panose="02020603050405020304" pitchFamily="18" charset="0"/>
              </a:rPr>
              <a:t>Approve doctors, manage all users, deactivate accounts, view stats.</a:t>
            </a:r>
            <a:endParaRPr lang="en-IN" sz="3000" dirty="0">
              <a:solidFill>
                <a:schemeClr val="tx1"/>
              </a:solidFill>
              <a:latin typeface="Times New Roman" panose="02020603050405020304" pitchFamily="18" charset="0"/>
              <a:ea typeface="Microsoft Himalaya" panose="01010100010101010101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3419" y="5743634"/>
            <a:ext cx="6664580" cy="45433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4447278" cy="27020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47172" y="3469230"/>
            <a:ext cx="1343259" cy="1343259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028702" y="9444473"/>
            <a:ext cx="415290" cy="415290"/>
          </a:xfrm>
          <a:custGeom>
            <a:avLst/>
            <a:gdLst/>
            <a:ahLst/>
            <a:cxnLst/>
            <a:rect l="l" t="t" r="r" b="b"/>
            <a:pathLst>
              <a:path w="415290" h="415290">
                <a:moveTo>
                  <a:pt x="207607" y="415195"/>
                </a:moveTo>
                <a:lnTo>
                  <a:pt x="159648" y="409672"/>
                </a:lnTo>
                <a:lnTo>
                  <a:pt x="159892" y="409672"/>
                </a:lnTo>
                <a:lnTo>
                  <a:pt x="116212" y="394033"/>
                </a:lnTo>
                <a:lnTo>
                  <a:pt x="79242" y="370532"/>
                </a:lnTo>
                <a:lnTo>
                  <a:pt x="45570" y="337380"/>
                </a:lnTo>
                <a:lnTo>
                  <a:pt x="21082" y="298849"/>
                </a:lnTo>
                <a:lnTo>
                  <a:pt x="5476" y="255170"/>
                </a:lnTo>
                <a:lnTo>
                  <a:pt x="0" y="207585"/>
                </a:lnTo>
                <a:lnTo>
                  <a:pt x="5485" y="159987"/>
                </a:lnTo>
                <a:lnTo>
                  <a:pt x="21102" y="116294"/>
                </a:lnTo>
                <a:lnTo>
                  <a:pt x="45607" y="77751"/>
                </a:lnTo>
                <a:lnTo>
                  <a:pt x="77755" y="45604"/>
                </a:lnTo>
                <a:lnTo>
                  <a:pt x="116302" y="21099"/>
                </a:lnTo>
                <a:lnTo>
                  <a:pt x="160001" y="5482"/>
                </a:lnTo>
                <a:lnTo>
                  <a:pt x="207607" y="0"/>
                </a:lnTo>
                <a:lnTo>
                  <a:pt x="255206" y="5482"/>
                </a:lnTo>
                <a:lnTo>
                  <a:pt x="292757" y="18902"/>
                </a:lnTo>
                <a:lnTo>
                  <a:pt x="207607" y="18902"/>
                </a:lnTo>
                <a:lnTo>
                  <a:pt x="157444" y="25642"/>
                </a:lnTo>
                <a:lnTo>
                  <a:pt x="112367" y="44662"/>
                </a:lnTo>
                <a:lnTo>
                  <a:pt x="74174" y="74164"/>
                </a:lnTo>
                <a:lnTo>
                  <a:pt x="44666" y="112351"/>
                </a:lnTo>
                <a:lnTo>
                  <a:pt x="25641" y="157424"/>
                </a:lnTo>
                <a:lnTo>
                  <a:pt x="18899" y="207585"/>
                </a:lnTo>
                <a:lnTo>
                  <a:pt x="25641" y="257757"/>
                </a:lnTo>
                <a:lnTo>
                  <a:pt x="44666" y="302836"/>
                </a:lnTo>
                <a:lnTo>
                  <a:pt x="74174" y="341027"/>
                </a:lnTo>
                <a:lnTo>
                  <a:pt x="112367" y="370532"/>
                </a:lnTo>
                <a:lnTo>
                  <a:pt x="157444" y="389553"/>
                </a:lnTo>
                <a:lnTo>
                  <a:pt x="207607" y="396293"/>
                </a:lnTo>
                <a:lnTo>
                  <a:pt x="292550" y="396293"/>
                </a:lnTo>
                <a:lnTo>
                  <a:pt x="255184" y="409672"/>
                </a:lnTo>
                <a:lnTo>
                  <a:pt x="207607" y="415195"/>
                </a:lnTo>
                <a:close/>
              </a:path>
              <a:path w="415290" h="415290">
                <a:moveTo>
                  <a:pt x="292550" y="396293"/>
                </a:moveTo>
                <a:lnTo>
                  <a:pt x="207607" y="396293"/>
                </a:lnTo>
                <a:lnTo>
                  <a:pt x="257770" y="389553"/>
                </a:lnTo>
                <a:lnTo>
                  <a:pt x="302847" y="370532"/>
                </a:lnTo>
                <a:lnTo>
                  <a:pt x="341040" y="341027"/>
                </a:lnTo>
                <a:lnTo>
                  <a:pt x="370548" y="302836"/>
                </a:lnTo>
                <a:lnTo>
                  <a:pt x="389573" y="257757"/>
                </a:lnTo>
                <a:lnTo>
                  <a:pt x="396314" y="207585"/>
                </a:lnTo>
                <a:lnTo>
                  <a:pt x="389517" y="157424"/>
                </a:lnTo>
                <a:lnTo>
                  <a:pt x="372131" y="116294"/>
                </a:lnTo>
                <a:lnTo>
                  <a:pt x="343704" y="77751"/>
                </a:lnTo>
                <a:lnTo>
                  <a:pt x="303946" y="45604"/>
                </a:lnTo>
                <a:lnTo>
                  <a:pt x="257655" y="25642"/>
                </a:lnTo>
                <a:lnTo>
                  <a:pt x="257466" y="25642"/>
                </a:lnTo>
                <a:lnTo>
                  <a:pt x="207607" y="18902"/>
                </a:lnTo>
                <a:lnTo>
                  <a:pt x="292757" y="18902"/>
                </a:lnTo>
                <a:lnTo>
                  <a:pt x="298903" y="21099"/>
                </a:lnTo>
                <a:lnTo>
                  <a:pt x="337451" y="45604"/>
                </a:lnTo>
                <a:lnTo>
                  <a:pt x="369604" y="77751"/>
                </a:lnTo>
                <a:lnTo>
                  <a:pt x="394113" y="116294"/>
                </a:lnTo>
                <a:lnTo>
                  <a:pt x="409733" y="159987"/>
                </a:lnTo>
                <a:lnTo>
                  <a:pt x="415217" y="207585"/>
                </a:lnTo>
                <a:lnTo>
                  <a:pt x="409692" y="255170"/>
                </a:lnTo>
                <a:lnTo>
                  <a:pt x="394051" y="298849"/>
                </a:lnTo>
                <a:lnTo>
                  <a:pt x="369536" y="337380"/>
                </a:lnTo>
                <a:lnTo>
                  <a:pt x="337392" y="369522"/>
                </a:lnTo>
                <a:lnTo>
                  <a:pt x="298860" y="394033"/>
                </a:lnTo>
                <a:lnTo>
                  <a:pt x="292550" y="396293"/>
                </a:lnTo>
                <a:close/>
              </a:path>
              <a:path w="415290" h="415290">
                <a:moveTo>
                  <a:pt x="226928" y="329025"/>
                </a:moveTo>
                <a:lnTo>
                  <a:pt x="181000" y="329025"/>
                </a:lnTo>
                <a:lnTo>
                  <a:pt x="287058" y="222402"/>
                </a:lnTo>
                <a:lnTo>
                  <a:pt x="98572" y="222402"/>
                </a:lnTo>
                <a:lnTo>
                  <a:pt x="98572" y="184597"/>
                </a:lnTo>
                <a:lnTo>
                  <a:pt x="281397" y="184597"/>
                </a:lnTo>
                <a:lnTo>
                  <a:pt x="175487" y="78490"/>
                </a:lnTo>
                <a:lnTo>
                  <a:pt x="221243" y="78490"/>
                </a:lnTo>
                <a:lnTo>
                  <a:pt x="349107" y="206355"/>
                </a:lnTo>
                <a:lnTo>
                  <a:pt x="226928" y="329025"/>
                </a:lnTo>
                <a:close/>
              </a:path>
            </a:pathLst>
          </a:custGeom>
          <a:solidFill>
            <a:srgbClr val="2409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6037566" y="9416426"/>
            <a:ext cx="1039494" cy="3105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spc="90" dirty="0">
                <a:solidFill>
                  <a:srgbClr val="240960"/>
                </a:solidFill>
                <a:latin typeface="Tahoma"/>
                <a:cs typeface="Tahoma"/>
              </a:rPr>
              <a:t>Page</a:t>
            </a:r>
            <a:r>
              <a:rPr sz="1800" b="1" spc="295" dirty="0">
                <a:solidFill>
                  <a:srgbClr val="24096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240960"/>
                </a:solidFill>
                <a:latin typeface="Verdana"/>
                <a:cs typeface="Verdana"/>
              </a:rPr>
              <a:t>07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FF3B2187-F9F0-A42B-9F12-152C8B2C2541}"/>
              </a:ext>
            </a:extLst>
          </p:cNvPr>
          <p:cNvSpPr/>
          <p:nvPr/>
        </p:nvSpPr>
        <p:spPr>
          <a:xfrm>
            <a:off x="2131404" y="2325627"/>
            <a:ext cx="3614928" cy="2460955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A3A3A"/>
            </a:solidFill>
            <a:prstDash val="solid"/>
          </a:ln>
        </p:spPr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BC19F104-0943-345B-F2FC-14DE35145C5C}"/>
              </a:ext>
            </a:extLst>
          </p:cNvPr>
          <p:cNvSpPr/>
          <p:nvPr/>
        </p:nvSpPr>
        <p:spPr>
          <a:xfrm>
            <a:off x="2131404" y="2325627"/>
            <a:ext cx="3614928" cy="100585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6F4FB89A-DD7F-F6A9-FE3E-4E6D5F37DFCD}"/>
              </a:ext>
            </a:extLst>
          </p:cNvPr>
          <p:cNvSpPr/>
          <p:nvPr/>
        </p:nvSpPr>
        <p:spPr>
          <a:xfrm>
            <a:off x="2241132" y="2426212"/>
            <a:ext cx="2988310" cy="546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React Frontend</a:t>
            </a:r>
            <a:endParaRPr lang="en-US" sz="25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AE0A821D-E479-9B4A-BD09-F894F5826B66}"/>
              </a:ext>
            </a:extLst>
          </p:cNvPr>
          <p:cNvSpPr/>
          <p:nvPr/>
        </p:nvSpPr>
        <p:spPr>
          <a:xfrm>
            <a:off x="2320818" y="3183586"/>
            <a:ext cx="298831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Material UI  ·  Recharts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C6E7BC44-02E0-93F8-BED2-A48BA9A6B463}"/>
              </a:ext>
            </a:extLst>
          </p:cNvPr>
          <p:cNvSpPr/>
          <p:nvPr/>
        </p:nvSpPr>
        <p:spPr>
          <a:xfrm>
            <a:off x="2850732" y="3808254"/>
            <a:ext cx="1884934" cy="390144"/>
          </a:xfrm>
          <a:prstGeom prst="roundRect">
            <a:avLst>
              <a:gd name="adj" fmla="val 26667"/>
            </a:avLst>
          </a:prstGeom>
          <a:solidFill>
            <a:srgbClr val="1E1E1E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FCE63DD-6CCC-D6A4-166E-040EC7AF0C42}"/>
              </a:ext>
            </a:extLst>
          </p:cNvPr>
          <p:cNvSpPr/>
          <p:nvPr/>
        </p:nvSpPr>
        <p:spPr>
          <a:xfrm>
            <a:off x="2845816" y="3821773"/>
            <a:ext cx="188493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PORT</a:t>
            </a: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3000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EACE1277-0DBF-D1F9-5C32-2692D3A8D8AF}"/>
              </a:ext>
            </a:extLst>
          </p:cNvPr>
          <p:cNvSpPr/>
          <p:nvPr/>
        </p:nvSpPr>
        <p:spPr>
          <a:xfrm>
            <a:off x="5667704" y="3377797"/>
            <a:ext cx="1526427" cy="1959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 API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412FAA0C-94C4-FC33-0E93-ADD3DF2FEAF7}"/>
              </a:ext>
            </a:extLst>
          </p:cNvPr>
          <p:cNvSpPr/>
          <p:nvPr/>
        </p:nvSpPr>
        <p:spPr>
          <a:xfrm>
            <a:off x="5746332" y="3573728"/>
            <a:ext cx="1355508" cy="2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8581987B-8E6F-C6E3-0D75-54774FC3386D}"/>
              </a:ext>
            </a:extLst>
          </p:cNvPr>
          <p:cNvSpPr/>
          <p:nvPr/>
        </p:nvSpPr>
        <p:spPr>
          <a:xfrm>
            <a:off x="7101840" y="2353664"/>
            <a:ext cx="3493860" cy="2360367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A3A3A"/>
            </a:solidFill>
            <a:prstDash val="solid"/>
          </a:ln>
        </p:spPr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8E52C6DE-12D1-5DC3-A852-834BBEC6C6BA}"/>
              </a:ext>
            </a:extLst>
          </p:cNvPr>
          <p:cNvSpPr/>
          <p:nvPr/>
        </p:nvSpPr>
        <p:spPr>
          <a:xfrm>
            <a:off x="7086600" y="2324100"/>
            <a:ext cx="3493860" cy="10932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F6C23305-0C1C-D7C5-4384-F26877958F9C}"/>
              </a:ext>
            </a:extLst>
          </p:cNvPr>
          <p:cNvSpPr/>
          <p:nvPr/>
        </p:nvSpPr>
        <p:spPr>
          <a:xfrm>
            <a:off x="7337632" y="2492849"/>
            <a:ext cx="3155532" cy="4018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Boot Backend</a:t>
            </a:r>
            <a:endParaRPr lang="en-US" sz="25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D120F318-DFE8-7207-273A-1A59EF5CCDD1}"/>
              </a:ext>
            </a:extLst>
          </p:cNvPr>
          <p:cNvSpPr/>
          <p:nvPr/>
        </p:nvSpPr>
        <p:spPr>
          <a:xfrm>
            <a:off x="7475646" y="3173241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Java 17  ·  JPA  ·  JWT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429326F9-8104-A683-874D-8864FEF21B3B}"/>
              </a:ext>
            </a:extLst>
          </p:cNvPr>
          <p:cNvSpPr/>
          <p:nvPr/>
        </p:nvSpPr>
        <p:spPr>
          <a:xfrm>
            <a:off x="7891063" y="3808254"/>
            <a:ext cx="1884934" cy="390144"/>
          </a:xfrm>
          <a:prstGeom prst="roundRect">
            <a:avLst>
              <a:gd name="adj" fmla="val 26667"/>
            </a:avLst>
          </a:prstGeom>
          <a:solidFill>
            <a:srgbClr val="1E1E1E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PORT 8321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31CCA8ED-FDA6-F2A3-9F81-927755478B7D}"/>
              </a:ext>
            </a:extLst>
          </p:cNvPr>
          <p:cNvSpPr/>
          <p:nvPr/>
        </p:nvSpPr>
        <p:spPr>
          <a:xfrm>
            <a:off x="10580460" y="2991652"/>
            <a:ext cx="1033272" cy="500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SQL Query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26">
            <a:extLst>
              <a:ext uri="{FF2B5EF4-FFF2-40B4-BE49-F238E27FC236}">
                <a16:creationId xmlns:a16="http://schemas.microsoft.com/office/drawing/2014/main" id="{8D73DD6C-1BF9-4636-91C3-44C025B03249}"/>
              </a:ext>
            </a:extLst>
          </p:cNvPr>
          <p:cNvSpPr/>
          <p:nvPr/>
        </p:nvSpPr>
        <p:spPr>
          <a:xfrm>
            <a:off x="10610940" y="3563992"/>
            <a:ext cx="926592" cy="973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ABA23A51-23AC-CAC2-D3F6-30B765CD4E82}"/>
              </a:ext>
            </a:extLst>
          </p:cNvPr>
          <p:cNvSpPr/>
          <p:nvPr/>
        </p:nvSpPr>
        <p:spPr>
          <a:xfrm>
            <a:off x="11589150" y="2324098"/>
            <a:ext cx="3834581" cy="2331159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A3A3A"/>
            </a:solidFill>
            <a:prstDash val="solid"/>
          </a:ln>
        </p:spPr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E2D29458-EF6C-1CDA-5F80-A2D619A1BC6D}"/>
              </a:ext>
            </a:extLst>
          </p:cNvPr>
          <p:cNvSpPr/>
          <p:nvPr/>
        </p:nvSpPr>
        <p:spPr>
          <a:xfrm>
            <a:off x="11589151" y="2308022"/>
            <a:ext cx="3834580" cy="11351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C7D8D6F0-3EB2-E1A1-160D-2F938196F6CE}"/>
              </a:ext>
            </a:extLst>
          </p:cNvPr>
          <p:cNvSpPr/>
          <p:nvPr/>
        </p:nvSpPr>
        <p:spPr>
          <a:xfrm>
            <a:off x="11613732" y="2589319"/>
            <a:ext cx="3724852" cy="340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 AI Service</a:t>
            </a:r>
            <a:endParaRPr lang="en-US" sz="25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F4B276FB-A022-E57F-8682-8FEB508E266F}"/>
              </a:ext>
            </a:extLst>
          </p:cNvPr>
          <p:cNvSpPr/>
          <p:nvPr/>
        </p:nvSpPr>
        <p:spPr>
          <a:xfrm>
            <a:off x="12050695" y="31519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FastAPI  ·  Groq LLM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6397DFC3-F983-57F8-52DA-A581496858D3}"/>
              </a:ext>
            </a:extLst>
          </p:cNvPr>
          <p:cNvSpPr/>
          <p:nvPr/>
        </p:nvSpPr>
        <p:spPr>
          <a:xfrm>
            <a:off x="12489607" y="3808254"/>
            <a:ext cx="1791125" cy="403663"/>
          </a:xfrm>
          <a:prstGeom prst="roundRect">
            <a:avLst>
              <a:gd name="adj" fmla="val 26667"/>
            </a:avLst>
          </a:prstGeom>
          <a:solidFill>
            <a:srgbClr val="1E1E1E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A522E10C-48EA-36A7-C400-41F6769471DC}"/>
              </a:ext>
            </a:extLst>
          </p:cNvPr>
          <p:cNvSpPr/>
          <p:nvPr/>
        </p:nvSpPr>
        <p:spPr>
          <a:xfrm>
            <a:off x="12635361" y="3879685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PORT 8000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27">
            <a:extLst>
              <a:ext uri="{FF2B5EF4-FFF2-40B4-BE49-F238E27FC236}">
                <a16:creationId xmlns:a16="http://schemas.microsoft.com/office/drawing/2014/main" id="{B8347A70-F59F-72B6-9E64-AB52AC4EDE43}"/>
              </a:ext>
            </a:extLst>
          </p:cNvPr>
          <p:cNvSpPr/>
          <p:nvPr/>
        </p:nvSpPr>
        <p:spPr>
          <a:xfrm>
            <a:off x="2508067" y="5682964"/>
            <a:ext cx="2852695" cy="1599758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A71F1B97-872C-B07B-511E-EE632E31E598}"/>
              </a:ext>
            </a:extLst>
          </p:cNvPr>
          <p:cNvSpPr/>
          <p:nvPr/>
        </p:nvSpPr>
        <p:spPr>
          <a:xfrm>
            <a:off x="2636083" y="5756116"/>
            <a:ext cx="2593359" cy="587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JWT Auth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29">
            <a:extLst>
              <a:ext uri="{FF2B5EF4-FFF2-40B4-BE49-F238E27FC236}">
                <a16:creationId xmlns:a16="http://schemas.microsoft.com/office/drawing/2014/main" id="{3E4E2E83-A22C-7CAF-4DD2-936BD10E8932}"/>
              </a:ext>
            </a:extLst>
          </p:cNvPr>
          <p:cNvSpPr/>
          <p:nvPr/>
        </p:nvSpPr>
        <p:spPr>
          <a:xfrm>
            <a:off x="2636083" y="6103588"/>
            <a:ext cx="2593359" cy="489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BCrypt · Role guard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30">
            <a:extLst>
              <a:ext uri="{FF2B5EF4-FFF2-40B4-BE49-F238E27FC236}">
                <a16:creationId xmlns:a16="http://schemas.microsoft.com/office/drawing/2014/main" id="{BBEE2640-82DA-04EB-4B23-37BC53FBAC51}"/>
              </a:ext>
            </a:extLst>
          </p:cNvPr>
          <p:cNvSpPr/>
          <p:nvPr/>
        </p:nvSpPr>
        <p:spPr>
          <a:xfrm>
            <a:off x="7170667" y="5663165"/>
            <a:ext cx="3493860" cy="1619557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2" name="Text 31">
            <a:extLst>
              <a:ext uri="{FF2B5EF4-FFF2-40B4-BE49-F238E27FC236}">
                <a16:creationId xmlns:a16="http://schemas.microsoft.com/office/drawing/2014/main" id="{151A5B91-EAD4-7EFF-1E2C-227A82354587}"/>
              </a:ext>
            </a:extLst>
          </p:cNvPr>
          <p:cNvSpPr/>
          <p:nvPr/>
        </p:nvSpPr>
        <p:spPr>
          <a:xfrm>
            <a:off x="7298683" y="5797379"/>
            <a:ext cx="3566160" cy="503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Database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32">
            <a:extLst>
              <a:ext uri="{FF2B5EF4-FFF2-40B4-BE49-F238E27FC236}">
                <a16:creationId xmlns:a16="http://schemas.microsoft.com/office/drawing/2014/main" id="{1862E998-11E0-48B0-E74B-0ABE324F3FCF}"/>
              </a:ext>
            </a:extLst>
          </p:cNvPr>
          <p:cNvSpPr/>
          <p:nvPr/>
        </p:nvSpPr>
        <p:spPr>
          <a:xfrm>
            <a:off x="7254454" y="6409475"/>
            <a:ext cx="3566160" cy="419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PORT 3306  ·  Auto-created by Hibernate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737689A5-FC02-C548-569F-41C17CC4A6B6}"/>
              </a:ext>
            </a:extLst>
          </p:cNvPr>
          <p:cNvSpPr/>
          <p:nvPr/>
        </p:nvSpPr>
        <p:spPr>
          <a:xfrm>
            <a:off x="12239227" y="5631744"/>
            <a:ext cx="2702824" cy="1573190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E5088670-DA82-66CA-FB93-03F583F52F68}"/>
              </a:ext>
            </a:extLst>
          </p:cNvPr>
          <p:cNvSpPr/>
          <p:nvPr/>
        </p:nvSpPr>
        <p:spPr>
          <a:xfrm>
            <a:off x="12367242" y="5860507"/>
            <a:ext cx="2457113" cy="5779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Groq LLM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35">
            <a:extLst>
              <a:ext uri="{FF2B5EF4-FFF2-40B4-BE49-F238E27FC236}">
                <a16:creationId xmlns:a16="http://schemas.microsoft.com/office/drawing/2014/main" id="{8ED0C78B-595B-5709-E83D-33AC6AFCBB0A}"/>
              </a:ext>
            </a:extLst>
          </p:cNvPr>
          <p:cNvSpPr/>
          <p:nvPr/>
        </p:nvSpPr>
        <p:spPr>
          <a:xfrm>
            <a:off x="12367242" y="6223037"/>
            <a:ext cx="2457113" cy="4815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Llama 3.1 8B Instant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36">
            <a:extLst>
              <a:ext uri="{FF2B5EF4-FFF2-40B4-BE49-F238E27FC236}">
                <a16:creationId xmlns:a16="http://schemas.microsoft.com/office/drawing/2014/main" id="{275C1944-0BE8-B048-7B4B-E4BE25E6125F}"/>
              </a:ext>
            </a:extLst>
          </p:cNvPr>
          <p:cNvSpPr/>
          <p:nvPr/>
        </p:nvSpPr>
        <p:spPr>
          <a:xfrm>
            <a:off x="2813046" y="4787686"/>
            <a:ext cx="0" cy="895278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58" name="Shape 37">
            <a:extLst>
              <a:ext uri="{FF2B5EF4-FFF2-40B4-BE49-F238E27FC236}">
                <a16:creationId xmlns:a16="http://schemas.microsoft.com/office/drawing/2014/main" id="{0BC4F6B0-7565-B63B-075C-79DF69F19CEE}"/>
              </a:ext>
            </a:extLst>
          </p:cNvPr>
          <p:cNvSpPr/>
          <p:nvPr/>
        </p:nvSpPr>
        <p:spPr>
          <a:xfrm>
            <a:off x="8766481" y="4733438"/>
            <a:ext cx="11485" cy="919846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59" name="Shape 37">
            <a:extLst>
              <a:ext uri="{FF2B5EF4-FFF2-40B4-BE49-F238E27FC236}">
                <a16:creationId xmlns:a16="http://schemas.microsoft.com/office/drawing/2014/main" id="{94EDC9BB-190D-0759-B586-BA771EAEADF3}"/>
              </a:ext>
            </a:extLst>
          </p:cNvPr>
          <p:cNvSpPr/>
          <p:nvPr/>
        </p:nvSpPr>
        <p:spPr>
          <a:xfrm flipH="1">
            <a:off x="14609301" y="4655256"/>
            <a:ext cx="0" cy="919261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60" name="Shape 40">
            <a:extLst>
              <a:ext uri="{FF2B5EF4-FFF2-40B4-BE49-F238E27FC236}">
                <a16:creationId xmlns:a16="http://schemas.microsoft.com/office/drawing/2014/main" id="{56E08D77-B3B0-B05C-35C7-A5535E2F19ED}"/>
              </a:ext>
            </a:extLst>
          </p:cNvPr>
          <p:cNvSpPr/>
          <p:nvPr/>
        </p:nvSpPr>
        <p:spPr>
          <a:xfrm>
            <a:off x="2601246" y="8727405"/>
            <a:ext cx="1482001" cy="392298"/>
          </a:xfrm>
          <a:prstGeom prst="roundRect">
            <a:avLst>
              <a:gd name="adj" fmla="val 30769"/>
            </a:avLst>
          </a:prstGeom>
          <a:solidFill>
            <a:srgbClr val="18181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61" name="Text 41">
            <a:extLst>
              <a:ext uri="{FF2B5EF4-FFF2-40B4-BE49-F238E27FC236}">
                <a16:creationId xmlns:a16="http://schemas.microsoft.com/office/drawing/2014/main" id="{940524F5-CFDA-F191-8B36-B621CDAF90C9}"/>
              </a:ext>
            </a:extLst>
          </p:cNvPr>
          <p:cNvSpPr/>
          <p:nvPr/>
        </p:nvSpPr>
        <p:spPr>
          <a:xfrm>
            <a:off x="2601246" y="8727405"/>
            <a:ext cx="14373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admin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42">
            <a:extLst>
              <a:ext uri="{FF2B5EF4-FFF2-40B4-BE49-F238E27FC236}">
                <a16:creationId xmlns:a16="http://schemas.microsoft.com/office/drawing/2014/main" id="{4ECD5113-5D97-8209-5981-56923D2958E6}"/>
              </a:ext>
            </a:extLst>
          </p:cNvPr>
          <p:cNvSpPr/>
          <p:nvPr/>
        </p:nvSpPr>
        <p:spPr>
          <a:xfrm>
            <a:off x="4880702" y="8727405"/>
            <a:ext cx="1155626" cy="392268"/>
          </a:xfrm>
          <a:prstGeom prst="roundRect">
            <a:avLst>
              <a:gd name="adj" fmla="val 30769"/>
            </a:avLst>
          </a:prstGeom>
          <a:solidFill>
            <a:srgbClr val="18181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63" name="Text 43">
            <a:extLst>
              <a:ext uri="{FF2B5EF4-FFF2-40B4-BE49-F238E27FC236}">
                <a16:creationId xmlns:a16="http://schemas.microsoft.com/office/drawing/2014/main" id="{B53791D2-FC04-61CE-2395-15904F1A7E47}"/>
              </a:ext>
            </a:extLst>
          </p:cNvPr>
          <p:cNvSpPr/>
          <p:nvPr/>
        </p:nvSpPr>
        <p:spPr>
          <a:xfrm>
            <a:off x="4841957" y="8708959"/>
            <a:ext cx="1155625" cy="36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doctors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44">
            <a:extLst>
              <a:ext uri="{FF2B5EF4-FFF2-40B4-BE49-F238E27FC236}">
                <a16:creationId xmlns:a16="http://schemas.microsoft.com/office/drawing/2014/main" id="{E18521B2-9197-C661-99C5-9888142E4012}"/>
              </a:ext>
            </a:extLst>
          </p:cNvPr>
          <p:cNvSpPr/>
          <p:nvPr/>
        </p:nvSpPr>
        <p:spPr>
          <a:xfrm>
            <a:off x="7035189" y="8708959"/>
            <a:ext cx="1309979" cy="410710"/>
          </a:xfrm>
          <a:prstGeom prst="roundRect">
            <a:avLst>
              <a:gd name="adj" fmla="val 30769"/>
            </a:avLst>
          </a:prstGeom>
          <a:solidFill>
            <a:srgbClr val="18181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65" name="Text 45">
            <a:extLst>
              <a:ext uri="{FF2B5EF4-FFF2-40B4-BE49-F238E27FC236}">
                <a16:creationId xmlns:a16="http://schemas.microsoft.com/office/drawing/2014/main" id="{3F2C43B3-DD0C-E404-4059-AE80C880BE70}"/>
              </a:ext>
            </a:extLst>
          </p:cNvPr>
          <p:cNvSpPr/>
          <p:nvPr/>
        </p:nvSpPr>
        <p:spPr>
          <a:xfrm>
            <a:off x="7076220" y="8732135"/>
            <a:ext cx="1225296" cy="338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patients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hape 46">
            <a:extLst>
              <a:ext uri="{FF2B5EF4-FFF2-40B4-BE49-F238E27FC236}">
                <a16:creationId xmlns:a16="http://schemas.microsoft.com/office/drawing/2014/main" id="{E801B665-37A9-62EB-3A3E-4109638EEA95}"/>
              </a:ext>
            </a:extLst>
          </p:cNvPr>
          <p:cNvSpPr/>
          <p:nvPr/>
        </p:nvSpPr>
        <p:spPr>
          <a:xfrm>
            <a:off x="9215167" y="8708959"/>
            <a:ext cx="1225295" cy="410710"/>
          </a:xfrm>
          <a:prstGeom prst="roundRect">
            <a:avLst>
              <a:gd name="adj" fmla="val 30769"/>
            </a:avLst>
          </a:prstGeom>
          <a:solidFill>
            <a:srgbClr val="18181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67" name="Shape 48">
            <a:extLst>
              <a:ext uri="{FF2B5EF4-FFF2-40B4-BE49-F238E27FC236}">
                <a16:creationId xmlns:a16="http://schemas.microsoft.com/office/drawing/2014/main" id="{705A9DBD-23BE-40CE-5917-8F9D31C29782}"/>
              </a:ext>
            </a:extLst>
          </p:cNvPr>
          <p:cNvSpPr/>
          <p:nvPr/>
        </p:nvSpPr>
        <p:spPr>
          <a:xfrm>
            <a:off x="11344980" y="8708959"/>
            <a:ext cx="1616077" cy="425829"/>
          </a:xfrm>
          <a:prstGeom prst="roundRect">
            <a:avLst>
              <a:gd name="adj" fmla="val 30769"/>
            </a:avLst>
          </a:prstGeom>
          <a:solidFill>
            <a:srgbClr val="18181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68" name="Text 49">
            <a:extLst>
              <a:ext uri="{FF2B5EF4-FFF2-40B4-BE49-F238E27FC236}">
                <a16:creationId xmlns:a16="http://schemas.microsoft.com/office/drawing/2014/main" id="{C836E7FB-1DEB-4D43-62EA-CC18042EA37A}"/>
              </a:ext>
            </a:extLst>
          </p:cNvPr>
          <p:cNvSpPr/>
          <p:nvPr/>
        </p:nvSpPr>
        <p:spPr>
          <a:xfrm>
            <a:off x="11450304" y="8770752"/>
            <a:ext cx="14740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prescriptions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Shape 50">
            <a:extLst>
              <a:ext uri="{FF2B5EF4-FFF2-40B4-BE49-F238E27FC236}">
                <a16:creationId xmlns:a16="http://schemas.microsoft.com/office/drawing/2014/main" id="{CBF9D2D0-A6D8-8F3E-7E09-373B600111F8}"/>
              </a:ext>
            </a:extLst>
          </p:cNvPr>
          <p:cNvSpPr/>
          <p:nvPr/>
        </p:nvSpPr>
        <p:spPr>
          <a:xfrm>
            <a:off x="6492901" y="9399015"/>
            <a:ext cx="2346299" cy="570545"/>
          </a:xfrm>
          <a:prstGeom prst="roundRect">
            <a:avLst>
              <a:gd name="adj" fmla="val 30769"/>
            </a:avLst>
          </a:prstGeom>
          <a:solidFill>
            <a:srgbClr val="18181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0" name="Text 51">
            <a:extLst>
              <a:ext uri="{FF2B5EF4-FFF2-40B4-BE49-F238E27FC236}">
                <a16:creationId xmlns:a16="http://schemas.microsoft.com/office/drawing/2014/main" id="{23C54F52-2AF4-09B0-79D5-D0EDD478603C}"/>
              </a:ext>
            </a:extLst>
          </p:cNvPr>
          <p:cNvSpPr/>
          <p:nvPr/>
        </p:nvSpPr>
        <p:spPr>
          <a:xfrm>
            <a:off x="6515719" y="9372160"/>
            <a:ext cx="2346297" cy="570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medication_tracking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52">
            <a:extLst>
              <a:ext uri="{FF2B5EF4-FFF2-40B4-BE49-F238E27FC236}">
                <a16:creationId xmlns:a16="http://schemas.microsoft.com/office/drawing/2014/main" id="{C495C892-23ED-2E17-771D-67C8A5C22F55}"/>
              </a:ext>
            </a:extLst>
          </p:cNvPr>
          <p:cNvSpPr/>
          <p:nvPr/>
        </p:nvSpPr>
        <p:spPr>
          <a:xfrm>
            <a:off x="9244583" y="9399016"/>
            <a:ext cx="1419943" cy="570544"/>
          </a:xfrm>
          <a:prstGeom prst="roundRect">
            <a:avLst>
              <a:gd name="adj" fmla="val 30769"/>
            </a:avLst>
          </a:prstGeom>
          <a:solidFill>
            <a:srgbClr val="18181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2" name="Text 53">
            <a:extLst>
              <a:ext uri="{FF2B5EF4-FFF2-40B4-BE49-F238E27FC236}">
                <a16:creationId xmlns:a16="http://schemas.microsoft.com/office/drawing/2014/main" id="{F1DA437F-271F-4EE7-E29A-5A263D1E50DA}"/>
              </a:ext>
            </a:extLst>
          </p:cNvPr>
          <p:cNvSpPr/>
          <p:nvPr/>
        </p:nvSpPr>
        <p:spPr>
          <a:xfrm>
            <a:off x="9350590" y="9345506"/>
            <a:ext cx="1207927" cy="68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medicines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54">
            <a:extLst>
              <a:ext uri="{FF2B5EF4-FFF2-40B4-BE49-F238E27FC236}">
                <a16:creationId xmlns:a16="http://schemas.microsoft.com/office/drawing/2014/main" id="{80350C4F-A46C-392B-98ED-42D4864529B5}"/>
              </a:ext>
            </a:extLst>
          </p:cNvPr>
          <p:cNvSpPr/>
          <p:nvPr/>
        </p:nvSpPr>
        <p:spPr>
          <a:xfrm>
            <a:off x="13769633" y="8706541"/>
            <a:ext cx="1654097" cy="413128"/>
          </a:xfrm>
          <a:prstGeom prst="roundRect">
            <a:avLst>
              <a:gd name="adj" fmla="val 30769"/>
            </a:avLst>
          </a:prstGeom>
          <a:solidFill>
            <a:srgbClr val="18181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4" name="Text 55">
            <a:extLst>
              <a:ext uri="{FF2B5EF4-FFF2-40B4-BE49-F238E27FC236}">
                <a16:creationId xmlns:a16="http://schemas.microsoft.com/office/drawing/2014/main" id="{F2D6D08F-3819-47C9-4FDE-FBADB08936E9}"/>
              </a:ext>
            </a:extLst>
          </p:cNvPr>
          <p:cNvSpPr/>
          <p:nvPr/>
        </p:nvSpPr>
        <p:spPr>
          <a:xfrm>
            <a:off x="13782253" y="8806643"/>
            <a:ext cx="16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chat_history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47">
            <a:extLst>
              <a:ext uri="{FF2B5EF4-FFF2-40B4-BE49-F238E27FC236}">
                <a16:creationId xmlns:a16="http://schemas.microsoft.com/office/drawing/2014/main" id="{A68C3DCB-92CE-4780-35F4-7B5E94A75030}"/>
              </a:ext>
            </a:extLst>
          </p:cNvPr>
          <p:cNvSpPr/>
          <p:nvPr/>
        </p:nvSpPr>
        <p:spPr>
          <a:xfrm>
            <a:off x="9255186" y="8773885"/>
            <a:ext cx="1225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staff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49">
            <a:extLst>
              <a:ext uri="{FF2B5EF4-FFF2-40B4-BE49-F238E27FC236}">
                <a16:creationId xmlns:a16="http://schemas.microsoft.com/office/drawing/2014/main" id="{B6E76DEE-BF8B-6F1C-0C89-4E2093CD7FBA}"/>
              </a:ext>
            </a:extLst>
          </p:cNvPr>
          <p:cNvSpPr/>
          <p:nvPr/>
        </p:nvSpPr>
        <p:spPr>
          <a:xfrm>
            <a:off x="11465700" y="8325087"/>
            <a:ext cx="960120" cy="707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 39">
            <a:extLst>
              <a:ext uri="{FF2B5EF4-FFF2-40B4-BE49-F238E27FC236}">
                <a16:creationId xmlns:a16="http://schemas.microsoft.com/office/drawing/2014/main" id="{0E6866DC-48EC-873A-93CE-44CE502C54D4}"/>
              </a:ext>
            </a:extLst>
          </p:cNvPr>
          <p:cNvSpPr/>
          <p:nvPr/>
        </p:nvSpPr>
        <p:spPr>
          <a:xfrm>
            <a:off x="4343398" y="788453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kern="0" spc="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 TABLES  —  AUTO-CREATED BY HIBERNATE</a:t>
            </a:r>
            <a:endParaRPr lang="en-US" sz="25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3">
            <a:extLst>
              <a:ext uri="{FF2B5EF4-FFF2-40B4-BE49-F238E27FC236}">
                <a16:creationId xmlns:a16="http://schemas.microsoft.com/office/drawing/2014/main" id="{466C792B-4ED9-3B40-553D-FBB7191C6F1E}"/>
              </a:ext>
            </a:extLst>
          </p:cNvPr>
          <p:cNvSpPr/>
          <p:nvPr/>
        </p:nvSpPr>
        <p:spPr>
          <a:xfrm>
            <a:off x="4095415" y="74647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SYSTEM ARCHITECTURE</a:t>
            </a:r>
            <a:endParaRPr lang="en-US" sz="3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028702" y="9444473"/>
            <a:ext cx="415290" cy="415290"/>
          </a:xfrm>
          <a:custGeom>
            <a:avLst/>
            <a:gdLst/>
            <a:ahLst/>
            <a:cxnLst/>
            <a:rect l="l" t="t" r="r" b="b"/>
            <a:pathLst>
              <a:path w="415290" h="415290">
                <a:moveTo>
                  <a:pt x="207607" y="415195"/>
                </a:moveTo>
                <a:lnTo>
                  <a:pt x="159648" y="409672"/>
                </a:lnTo>
                <a:lnTo>
                  <a:pt x="159892" y="409672"/>
                </a:lnTo>
                <a:lnTo>
                  <a:pt x="116212" y="394033"/>
                </a:lnTo>
                <a:lnTo>
                  <a:pt x="79242" y="370532"/>
                </a:lnTo>
                <a:lnTo>
                  <a:pt x="45570" y="337380"/>
                </a:lnTo>
                <a:lnTo>
                  <a:pt x="21082" y="298849"/>
                </a:lnTo>
                <a:lnTo>
                  <a:pt x="5476" y="255170"/>
                </a:lnTo>
                <a:lnTo>
                  <a:pt x="0" y="207585"/>
                </a:lnTo>
                <a:lnTo>
                  <a:pt x="5485" y="159987"/>
                </a:lnTo>
                <a:lnTo>
                  <a:pt x="21102" y="116294"/>
                </a:lnTo>
                <a:lnTo>
                  <a:pt x="45607" y="77751"/>
                </a:lnTo>
                <a:lnTo>
                  <a:pt x="77755" y="45604"/>
                </a:lnTo>
                <a:lnTo>
                  <a:pt x="116302" y="21099"/>
                </a:lnTo>
                <a:lnTo>
                  <a:pt x="160001" y="5482"/>
                </a:lnTo>
                <a:lnTo>
                  <a:pt x="207607" y="0"/>
                </a:lnTo>
                <a:lnTo>
                  <a:pt x="255206" y="5482"/>
                </a:lnTo>
                <a:lnTo>
                  <a:pt x="292757" y="18902"/>
                </a:lnTo>
                <a:lnTo>
                  <a:pt x="207607" y="18902"/>
                </a:lnTo>
                <a:lnTo>
                  <a:pt x="157444" y="25642"/>
                </a:lnTo>
                <a:lnTo>
                  <a:pt x="112367" y="44662"/>
                </a:lnTo>
                <a:lnTo>
                  <a:pt x="74174" y="74164"/>
                </a:lnTo>
                <a:lnTo>
                  <a:pt x="44666" y="112351"/>
                </a:lnTo>
                <a:lnTo>
                  <a:pt x="25641" y="157424"/>
                </a:lnTo>
                <a:lnTo>
                  <a:pt x="18899" y="207585"/>
                </a:lnTo>
                <a:lnTo>
                  <a:pt x="25641" y="257757"/>
                </a:lnTo>
                <a:lnTo>
                  <a:pt x="44666" y="302836"/>
                </a:lnTo>
                <a:lnTo>
                  <a:pt x="74174" y="341027"/>
                </a:lnTo>
                <a:lnTo>
                  <a:pt x="112367" y="370532"/>
                </a:lnTo>
                <a:lnTo>
                  <a:pt x="157444" y="389553"/>
                </a:lnTo>
                <a:lnTo>
                  <a:pt x="207607" y="396293"/>
                </a:lnTo>
                <a:lnTo>
                  <a:pt x="292550" y="396293"/>
                </a:lnTo>
                <a:lnTo>
                  <a:pt x="255184" y="409672"/>
                </a:lnTo>
                <a:lnTo>
                  <a:pt x="207607" y="415195"/>
                </a:lnTo>
                <a:close/>
              </a:path>
              <a:path w="415290" h="415290">
                <a:moveTo>
                  <a:pt x="292550" y="396293"/>
                </a:moveTo>
                <a:lnTo>
                  <a:pt x="207607" y="396293"/>
                </a:lnTo>
                <a:lnTo>
                  <a:pt x="257770" y="389553"/>
                </a:lnTo>
                <a:lnTo>
                  <a:pt x="302847" y="370532"/>
                </a:lnTo>
                <a:lnTo>
                  <a:pt x="341040" y="341027"/>
                </a:lnTo>
                <a:lnTo>
                  <a:pt x="370548" y="302836"/>
                </a:lnTo>
                <a:lnTo>
                  <a:pt x="389573" y="257757"/>
                </a:lnTo>
                <a:lnTo>
                  <a:pt x="396314" y="207585"/>
                </a:lnTo>
                <a:lnTo>
                  <a:pt x="389517" y="157424"/>
                </a:lnTo>
                <a:lnTo>
                  <a:pt x="372131" y="116294"/>
                </a:lnTo>
                <a:lnTo>
                  <a:pt x="343704" y="77751"/>
                </a:lnTo>
                <a:lnTo>
                  <a:pt x="303946" y="45604"/>
                </a:lnTo>
                <a:lnTo>
                  <a:pt x="257655" y="25642"/>
                </a:lnTo>
                <a:lnTo>
                  <a:pt x="257466" y="25642"/>
                </a:lnTo>
                <a:lnTo>
                  <a:pt x="207607" y="18902"/>
                </a:lnTo>
                <a:lnTo>
                  <a:pt x="292757" y="18902"/>
                </a:lnTo>
                <a:lnTo>
                  <a:pt x="298903" y="21099"/>
                </a:lnTo>
                <a:lnTo>
                  <a:pt x="337451" y="45604"/>
                </a:lnTo>
                <a:lnTo>
                  <a:pt x="369604" y="77751"/>
                </a:lnTo>
                <a:lnTo>
                  <a:pt x="394113" y="116294"/>
                </a:lnTo>
                <a:lnTo>
                  <a:pt x="409733" y="159987"/>
                </a:lnTo>
                <a:lnTo>
                  <a:pt x="415217" y="207585"/>
                </a:lnTo>
                <a:lnTo>
                  <a:pt x="409692" y="255170"/>
                </a:lnTo>
                <a:lnTo>
                  <a:pt x="394051" y="298849"/>
                </a:lnTo>
                <a:lnTo>
                  <a:pt x="369536" y="337380"/>
                </a:lnTo>
                <a:lnTo>
                  <a:pt x="337392" y="369522"/>
                </a:lnTo>
                <a:lnTo>
                  <a:pt x="298860" y="394033"/>
                </a:lnTo>
                <a:lnTo>
                  <a:pt x="292550" y="396293"/>
                </a:lnTo>
                <a:close/>
              </a:path>
              <a:path w="415290" h="415290">
                <a:moveTo>
                  <a:pt x="226928" y="329025"/>
                </a:moveTo>
                <a:lnTo>
                  <a:pt x="181000" y="329025"/>
                </a:lnTo>
                <a:lnTo>
                  <a:pt x="287058" y="222402"/>
                </a:lnTo>
                <a:lnTo>
                  <a:pt x="98572" y="222402"/>
                </a:lnTo>
                <a:lnTo>
                  <a:pt x="98572" y="184597"/>
                </a:lnTo>
                <a:lnTo>
                  <a:pt x="281397" y="184597"/>
                </a:lnTo>
                <a:lnTo>
                  <a:pt x="175487" y="78490"/>
                </a:lnTo>
                <a:lnTo>
                  <a:pt x="221243" y="78490"/>
                </a:lnTo>
                <a:lnTo>
                  <a:pt x="349107" y="206355"/>
                </a:lnTo>
                <a:lnTo>
                  <a:pt x="226928" y="329025"/>
                </a:lnTo>
                <a:close/>
              </a:path>
            </a:pathLst>
          </a:custGeom>
          <a:solidFill>
            <a:srgbClr val="2409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87" y="-16491"/>
            <a:ext cx="2414253" cy="241425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744200" y="1124855"/>
            <a:ext cx="7543800" cy="7268527"/>
            <a:chOff x="9473006" y="1496555"/>
            <a:chExt cx="7543800" cy="7268527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02852" y="2630982"/>
              <a:ext cx="6136418" cy="61341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885710" y="2713223"/>
              <a:ext cx="5970905" cy="5969000"/>
            </a:xfrm>
            <a:custGeom>
              <a:avLst/>
              <a:gdLst/>
              <a:ahLst/>
              <a:cxnLst/>
              <a:rect l="l" t="t" r="r" b="b"/>
              <a:pathLst>
                <a:path w="5970905" h="5969000">
                  <a:moveTo>
                    <a:pt x="3129993" y="12700"/>
                  </a:moveTo>
                  <a:lnTo>
                    <a:pt x="2840707" y="12700"/>
                  </a:lnTo>
                  <a:lnTo>
                    <a:pt x="2888732" y="0"/>
                  </a:lnTo>
                  <a:lnTo>
                    <a:pt x="3081969" y="0"/>
                  </a:lnTo>
                  <a:lnTo>
                    <a:pt x="3129993" y="12700"/>
                  </a:lnTo>
                  <a:close/>
                </a:path>
                <a:path w="5970905" h="5969000">
                  <a:moveTo>
                    <a:pt x="3320060" y="25400"/>
                  </a:moveTo>
                  <a:lnTo>
                    <a:pt x="2650641" y="25400"/>
                  </a:lnTo>
                  <a:lnTo>
                    <a:pt x="2697841" y="12700"/>
                  </a:lnTo>
                  <a:lnTo>
                    <a:pt x="3272860" y="12700"/>
                  </a:lnTo>
                  <a:lnTo>
                    <a:pt x="3320060" y="25400"/>
                  </a:lnTo>
                  <a:close/>
                </a:path>
                <a:path w="5970905" h="5969000">
                  <a:moveTo>
                    <a:pt x="3413793" y="38100"/>
                  </a:moveTo>
                  <a:lnTo>
                    <a:pt x="2556908" y="38100"/>
                  </a:lnTo>
                  <a:lnTo>
                    <a:pt x="2603661" y="25400"/>
                  </a:lnTo>
                  <a:lnTo>
                    <a:pt x="3367040" y="25400"/>
                  </a:lnTo>
                  <a:lnTo>
                    <a:pt x="3413793" y="38100"/>
                  </a:lnTo>
                  <a:close/>
                </a:path>
                <a:path w="5970905" h="5969000">
                  <a:moveTo>
                    <a:pt x="3552637" y="63500"/>
                  </a:moveTo>
                  <a:lnTo>
                    <a:pt x="2418064" y="63500"/>
                  </a:lnTo>
                  <a:lnTo>
                    <a:pt x="2510387" y="38100"/>
                  </a:lnTo>
                  <a:lnTo>
                    <a:pt x="3460314" y="38100"/>
                  </a:lnTo>
                  <a:lnTo>
                    <a:pt x="3552637" y="63500"/>
                  </a:lnTo>
                  <a:close/>
                </a:path>
                <a:path w="5970905" h="5969000">
                  <a:moveTo>
                    <a:pt x="3598427" y="5918200"/>
                  </a:moveTo>
                  <a:lnTo>
                    <a:pt x="2372274" y="5918200"/>
                  </a:lnTo>
                  <a:lnTo>
                    <a:pt x="1972350" y="5803900"/>
                  </a:lnTo>
                  <a:lnTo>
                    <a:pt x="1929374" y="5778500"/>
                  </a:lnTo>
                  <a:lnTo>
                    <a:pt x="1844368" y="5753100"/>
                  </a:lnTo>
                  <a:lnTo>
                    <a:pt x="1802349" y="5727700"/>
                  </a:lnTo>
                  <a:lnTo>
                    <a:pt x="1760660" y="5715000"/>
                  </a:lnTo>
                  <a:lnTo>
                    <a:pt x="1719309" y="5689600"/>
                  </a:lnTo>
                  <a:lnTo>
                    <a:pt x="1678299" y="5676900"/>
                  </a:lnTo>
                  <a:lnTo>
                    <a:pt x="1637637" y="5651500"/>
                  </a:lnTo>
                  <a:lnTo>
                    <a:pt x="1597330" y="5638800"/>
                  </a:lnTo>
                  <a:lnTo>
                    <a:pt x="1478587" y="5562600"/>
                  </a:lnTo>
                  <a:lnTo>
                    <a:pt x="1439752" y="5549900"/>
                  </a:lnTo>
                  <a:lnTo>
                    <a:pt x="1363237" y="5499100"/>
                  </a:lnTo>
                  <a:lnTo>
                    <a:pt x="1288298" y="5448300"/>
                  </a:lnTo>
                  <a:lnTo>
                    <a:pt x="1214984" y="5397500"/>
                  </a:lnTo>
                  <a:lnTo>
                    <a:pt x="1178950" y="5372100"/>
                  </a:lnTo>
                  <a:lnTo>
                    <a:pt x="1143340" y="5334000"/>
                  </a:lnTo>
                  <a:lnTo>
                    <a:pt x="1073411" y="5283200"/>
                  </a:lnTo>
                  <a:lnTo>
                    <a:pt x="1039106" y="5257800"/>
                  </a:lnTo>
                  <a:lnTo>
                    <a:pt x="1005246" y="5219700"/>
                  </a:lnTo>
                  <a:lnTo>
                    <a:pt x="971839" y="5194300"/>
                  </a:lnTo>
                  <a:lnTo>
                    <a:pt x="938890" y="5168900"/>
                  </a:lnTo>
                  <a:lnTo>
                    <a:pt x="906404" y="5130800"/>
                  </a:lnTo>
                  <a:lnTo>
                    <a:pt x="874389" y="5105400"/>
                  </a:lnTo>
                  <a:lnTo>
                    <a:pt x="842848" y="5067300"/>
                  </a:lnTo>
                  <a:lnTo>
                    <a:pt x="811789" y="5041900"/>
                  </a:lnTo>
                  <a:lnTo>
                    <a:pt x="781217" y="5003800"/>
                  </a:lnTo>
                  <a:lnTo>
                    <a:pt x="751138" y="4965700"/>
                  </a:lnTo>
                  <a:lnTo>
                    <a:pt x="721557" y="4940300"/>
                  </a:lnTo>
                  <a:lnTo>
                    <a:pt x="692481" y="4902200"/>
                  </a:lnTo>
                  <a:lnTo>
                    <a:pt x="663915" y="4864100"/>
                  </a:lnTo>
                  <a:lnTo>
                    <a:pt x="635865" y="4826000"/>
                  </a:lnTo>
                  <a:lnTo>
                    <a:pt x="608336" y="4800600"/>
                  </a:lnTo>
                  <a:lnTo>
                    <a:pt x="581335" y="4762500"/>
                  </a:lnTo>
                  <a:lnTo>
                    <a:pt x="554868" y="4724400"/>
                  </a:lnTo>
                  <a:lnTo>
                    <a:pt x="528940" y="4686300"/>
                  </a:lnTo>
                  <a:lnTo>
                    <a:pt x="503556" y="4648200"/>
                  </a:lnTo>
                  <a:lnTo>
                    <a:pt x="478723" y="4610100"/>
                  </a:lnTo>
                  <a:lnTo>
                    <a:pt x="454447" y="4572000"/>
                  </a:lnTo>
                  <a:lnTo>
                    <a:pt x="430733" y="4533900"/>
                  </a:lnTo>
                  <a:lnTo>
                    <a:pt x="407587" y="4495800"/>
                  </a:lnTo>
                  <a:lnTo>
                    <a:pt x="385016" y="4457700"/>
                  </a:lnTo>
                  <a:lnTo>
                    <a:pt x="363023" y="4419600"/>
                  </a:lnTo>
                  <a:lnTo>
                    <a:pt x="341616" y="4381500"/>
                  </a:lnTo>
                  <a:lnTo>
                    <a:pt x="320801" y="4343400"/>
                  </a:lnTo>
                  <a:lnTo>
                    <a:pt x="300582" y="4292600"/>
                  </a:lnTo>
                  <a:lnTo>
                    <a:pt x="280967" y="4254500"/>
                  </a:lnTo>
                  <a:lnTo>
                    <a:pt x="261960" y="4216400"/>
                  </a:lnTo>
                  <a:lnTo>
                    <a:pt x="243567" y="4178300"/>
                  </a:lnTo>
                  <a:lnTo>
                    <a:pt x="225795" y="4127500"/>
                  </a:lnTo>
                  <a:lnTo>
                    <a:pt x="208649" y="4089400"/>
                  </a:lnTo>
                  <a:lnTo>
                    <a:pt x="192134" y="4051300"/>
                  </a:lnTo>
                  <a:lnTo>
                    <a:pt x="176257" y="4000500"/>
                  </a:lnTo>
                  <a:lnTo>
                    <a:pt x="161024" y="3962400"/>
                  </a:lnTo>
                  <a:lnTo>
                    <a:pt x="146439" y="3911600"/>
                  </a:lnTo>
                  <a:lnTo>
                    <a:pt x="132510" y="3873500"/>
                  </a:lnTo>
                  <a:lnTo>
                    <a:pt x="119241" y="3822700"/>
                  </a:lnTo>
                  <a:lnTo>
                    <a:pt x="106639" y="3784600"/>
                  </a:lnTo>
                  <a:lnTo>
                    <a:pt x="94709" y="3733800"/>
                  </a:lnTo>
                  <a:lnTo>
                    <a:pt x="83458" y="3695700"/>
                  </a:lnTo>
                  <a:lnTo>
                    <a:pt x="72890" y="3644900"/>
                  </a:lnTo>
                  <a:lnTo>
                    <a:pt x="63012" y="3606800"/>
                  </a:lnTo>
                  <a:lnTo>
                    <a:pt x="53830" y="3556000"/>
                  </a:lnTo>
                  <a:lnTo>
                    <a:pt x="45349" y="3505200"/>
                  </a:lnTo>
                  <a:lnTo>
                    <a:pt x="37575" y="3467100"/>
                  </a:lnTo>
                  <a:lnTo>
                    <a:pt x="30514" y="3416300"/>
                  </a:lnTo>
                  <a:lnTo>
                    <a:pt x="24171" y="3365500"/>
                  </a:lnTo>
                  <a:lnTo>
                    <a:pt x="18553" y="3327400"/>
                  </a:lnTo>
                  <a:lnTo>
                    <a:pt x="13666" y="3276600"/>
                  </a:lnTo>
                  <a:lnTo>
                    <a:pt x="9514" y="3225800"/>
                  </a:lnTo>
                  <a:lnTo>
                    <a:pt x="6104" y="3187700"/>
                  </a:lnTo>
                  <a:lnTo>
                    <a:pt x="3442" y="3136900"/>
                  </a:lnTo>
                  <a:lnTo>
                    <a:pt x="1533" y="3086100"/>
                  </a:lnTo>
                  <a:lnTo>
                    <a:pt x="384" y="3035300"/>
                  </a:lnTo>
                  <a:lnTo>
                    <a:pt x="0" y="2984500"/>
                  </a:lnTo>
                  <a:lnTo>
                    <a:pt x="384" y="2946400"/>
                  </a:lnTo>
                  <a:lnTo>
                    <a:pt x="1533" y="2895600"/>
                  </a:lnTo>
                  <a:lnTo>
                    <a:pt x="3442" y="2844800"/>
                  </a:lnTo>
                  <a:lnTo>
                    <a:pt x="6104" y="2794000"/>
                  </a:lnTo>
                  <a:lnTo>
                    <a:pt x="9514" y="2755900"/>
                  </a:lnTo>
                  <a:lnTo>
                    <a:pt x="13666" y="2705100"/>
                  </a:lnTo>
                  <a:lnTo>
                    <a:pt x="18553" y="2654300"/>
                  </a:lnTo>
                  <a:lnTo>
                    <a:pt x="24171" y="2603500"/>
                  </a:lnTo>
                  <a:lnTo>
                    <a:pt x="30514" y="2565400"/>
                  </a:lnTo>
                  <a:lnTo>
                    <a:pt x="37575" y="2514600"/>
                  </a:lnTo>
                  <a:lnTo>
                    <a:pt x="45349" y="2463800"/>
                  </a:lnTo>
                  <a:lnTo>
                    <a:pt x="53830" y="2425700"/>
                  </a:lnTo>
                  <a:lnTo>
                    <a:pt x="63012" y="2374900"/>
                  </a:lnTo>
                  <a:lnTo>
                    <a:pt x="72890" y="2336800"/>
                  </a:lnTo>
                  <a:lnTo>
                    <a:pt x="83458" y="2286000"/>
                  </a:lnTo>
                  <a:lnTo>
                    <a:pt x="94709" y="2235200"/>
                  </a:lnTo>
                  <a:lnTo>
                    <a:pt x="106639" y="2197100"/>
                  </a:lnTo>
                  <a:lnTo>
                    <a:pt x="119241" y="2146300"/>
                  </a:lnTo>
                  <a:lnTo>
                    <a:pt x="132510" y="2108200"/>
                  </a:lnTo>
                  <a:lnTo>
                    <a:pt x="146439" y="2070100"/>
                  </a:lnTo>
                  <a:lnTo>
                    <a:pt x="161024" y="2019300"/>
                  </a:lnTo>
                  <a:lnTo>
                    <a:pt x="176257" y="1981200"/>
                  </a:lnTo>
                  <a:lnTo>
                    <a:pt x="192134" y="1930400"/>
                  </a:lnTo>
                  <a:lnTo>
                    <a:pt x="208649" y="1892300"/>
                  </a:lnTo>
                  <a:lnTo>
                    <a:pt x="225795" y="1854200"/>
                  </a:lnTo>
                  <a:lnTo>
                    <a:pt x="243567" y="1803400"/>
                  </a:lnTo>
                  <a:lnTo>
                    <a:pt x="261960" y="1765300"/>
                  </a:lnTo>
                  <a:lnTo>
                    <a:pt x="280967" y="1727200"/>
                  </a:lnTo>
                  <a:lnTo>
                    <a:pt x="300582" y="1689100"/>
                  </a:lnTo>
                  <a:lnTo>
                    <a:pt x="320801" y="1638300"/>
                  </a:lnTo>
                  <a:lnTo>
                    <a:pt x="341616" y="1600200"/>
                  </a:lnTo>
                  <a:lnTo>
                    <a:pt x="363023" y="1562100"/>
                  </a:lnTo>
                  <a:lnTo>
                    <a:pt x="385016" y="1524000"/>
                  </a:lnTo>
                  <a:lnTo>
                    <a:pt x="407587" y="1485900"/>
                  </a:lnTo>
                  <a:lnTo>
                    <a:pt x="430733" y="1447800"/>
                  </a:lnTo>
                  <a:lnTo>
                    <a:pt x="454447" y="1409700"/>
                  </a:lnTo>
                  <a:lnTo>
                    <a:pt x="478723" y="1371600"/>
                  </a:lnTo>
                  <a:lnTo>
                    <a:pt x="503556" y="1333500"/>
                  </a:lnTo>
                  <a:lnTo>
                    <a:pt x="528940" y="1295400"/>
                  </a:lnTo>
                  <a:lnTo>
                    <a:pt x="554868" y="1257300"/>
                  </a:lnTo>
                  <a:lnTo>
                    <a:pt x="581335" y="1219200"/>
                  </a:lnTo>
                  <a:lnTo>
                    <a:pt x="608336" y="1181100"/>
                  </a:lnTo>
                  <a:lnTo>
                    <a:pt x="635865" y="1143000"/>
                  </a:lnTo>
                  <a:lnTo>
                    <a:pt x="663915" y="1117600"/>
                  </a:lnTo>
                  <a:lnTo>
                    <a:pt x="692481" y="1079500"/>
                  </a:lnTo>
                  <a:lnTo>
                    <a:pt x="721557" y="1041400"/>
                  </a:lnTo>
                  <a:lnTo>
                    <a:pt x="751138" y="1016000"/>
                  </a:lnTo>
                  <a:lnTo>
                    <a:pt x="781217" y="977900"/>
                  </a:lnTo>
                  <a:lnTo>
                    <a:pt x="811789" y="939800"/>
                  </a:lnTo>
                  <a:lnTo>
                    <a:pt x="842848" y="914400"/>
                  </a:lnTo>
                  <a:lnTo>
                    <a:pt x="874389" y="876300"/>
                  </a:lnTo>
                  <a:lnTo>
                    <a:pt x="906404" y="850900"/>
                  </a:lnTo>
                  <a:lnTo>
                    <a:pt x="938890" y="812800"/>
                  </a:lnTo>
                  <a:lnTo>
                    <a:pt x="971839" y="787400"/>
                  </a:lnTo>
                  <a:lnTo>
                    <a:pt x="1005246" y="762000"/>
                  </a:lnTo>
                  <a:lnTo>
                    <a:pt x="1039106" y="723900"/>
                  </a:lnTo>
                  <a:lnTo>
                    <a:pt x="1108158" y="673100"/>
                  </a:lnTo>
                  <a:lnTo>
                    <a:pt x="1143340" y="635000"/>
                  </a:lnTo>
                  <a:lnTo>
                    <a:pt x="1214984" y="584200"/>
                  </a:lnTo>
                  <a:lnTo>
                    <a:pt x="1288298" y="533400"/>
                  </a:lnTo>
                  <a:lnTo>
                    <a:pt x="1363237" y="482600"/>
                  </a:lnTo>
                  <a:lnTo>
                    <a:pt x="1478587" y="406400"/>
                  </a:lnTo>
                  <a:lnTo>
                    <a:pt x="1517798" y="393700"/>
                  </a:lnTo>
                  <a:lnTo>
                    <a:pt x="1597330" y="342900"/>
                  </a:lnTo>
                  <a:lnTo>
                    <a:pt x="1637637" y="330200"/>
                  </a:lnTo>
                  <a:lnTo>
                    <a:pt x="1719309" y="279400"/>
                  </a:lnTo>
                  <a:lnTo>
                    <a:pt x="1802349" y="254000"/>
                  </a:lnTo>
                  <a:lnTo>
                    <a:pt x="1844368" y="228600"/>
                  </a:lnTo>
                  <a:lnTo>
                    <a:pt x="1886711" y="215900"/>
                  </a:lnTo>
                  <a:lnTo>
                    <a:pt x="1929374" y="190500"/>
                  </a:lnTo>
                  <a:lnTo>
                    <a:pt x="2372274" y="63500"/>
                  </a:lnTo>
                  <a:lnTo>
                    <a:pt x="3598427" y="63500"/>
                  </a:lnTo>
                  <a:lnTo>
                    <a:pt x="4041327" y="190500"/>
                  </a:lnTo>
                  <a:lnTo>
                    <a:pt x="4083990" y="215900"/>
                  </a:lnTo>
                  <a:lnTo>
                    <a:pt x="4126333" y="228600"/>
                  </a:lnTo>
                  <a:lnTo>
                    <a:pt x="4168352" y="254000"/>
                  </a:lnTo>
                  <a:lnTo>
                    <a:pt x="4251392" y="279400"/>
                  </a:lnTo>
                  <a:lnTo>
                    <a:pt x="4333064" y="330200"/>
                  </a:lnTo>
                  <a:lnTo>
                    <a:pt x="4373371" y="342900"/>
                  </a:lnTo>
                  <a:lnTo>
                    <a:pt x="4452903" y="393700"/>
                  </a:lnTo>
                  <a:lnTo>
                    <a:pt x="4492114" y="406400"/>
                  </a:lnTo>
                  <a:lnTo>
                    <a:pt x="4607465" y="482600"/>
                  </a:lnTo>
                  <a:lnTo>
                    <a:pt x="4682403" y="533400"/>
                  </a:lnTo>
                  <a:lnTo>
                    <a:pt x="4755717" y="584200"/>
                  </a:lnTo>
                  <a:lnTo>
                    <a:pt x="4827362" y="635000"/>
                  </a:lnTo>
                  <a:lnTo>
                    <a:pt x="4862543" y="673100"/>
                  </a:lnTo>
                  <a:lnTo>
                    <a:pt x="4931596" y="723900"/>
                  </a:lnTo>
                  <a:lnTo>
                    <a:pt x="4965455" y="762000"/>
                  </a:lnTo>
                  <a:lnTo>
                    <a:pt x="4998862" y="787400"/>
                  </a:lnTo>
                  <a:lnTo>
                    <a:pt x="5031811" y="812800"/>
                  </a:lnTo>
                  <a:lnTo>
                    <a:pt x="5064297" y="850900"/>
                  </a:lnTo>
                  <a:lnTo>
                    <a:pt x="5096312" y="876300"/>
                  </a:lnTo>
                  <a:lnTo>
                    <a:pt x="5127853" y="914400"/>
                  </a:lnTo>
                  <a:lnTo>
                    <a:pt x="5158912" y="939800"/>
                  </a:lnTo>
                  <a:lnTo>
                    <a:pt x="5189484" y="977900"/>
                  </a:lnTo>
                  <a:lnTo>
                    <a:pt x="5219563" y="1016000"/>
                  </a:lnTo>
                  <a:lnTo>
                    <a:pt x="5249144" y="1041400"/>
                  </a:lnTo>
                  <a:lnTo>
                    <a:pt x="5278220" y="1079500"/>
                  </a:lnTo>
                  <a:lnTo>
                    <a:pt x="5306786" y="1117600"/>
                  </a:lnTo>
                  <a:lnTo>
                    <a:pt x="5334836" y="1143000"/>
                  </a:lnTo>
                  <a:lnTo>
                    <a:pt x="5362365" y="1181100"/>
                  </a:lnTo>
                  <a:lnTo>
                    <a:pt x="5389366" y="1219200"/>
                  </a:lnTo>
                  <a:lnTo>
                    <a:pt x="5415833" y="1257300"/>
                  </a:lnTo>
                  <a:lnTo>
                    <a:pt x="5441761" y="1295400"/>
                  </a:lnTo>
                  <a:lnTo>
                    <a:pt x="5467145" y="1333500"/>
                  </a:lnTo>
                  <a:lnTo>
                    <a:pt x="5491978" y="1371600"/>
                  </a:lnTo>
                  <a:lnTo>
                    <a:pt x="5516254" y="1409700"/>
                  </a:lnTo>
                  <a:lnTo>
                    <a:pt x="5539968" y="1447800"/>
                  </a:lnTo>
                  <a:lnTo>
                    <a:pt x="5563113" y="1485900"/>
                  </a:lnTo>
                  <a:lnTo>
                    <a:pt x="5585685" y="1524000"/>
                  </a:lnTo>
                  <a:lnTo>
                    <a:pt x="5607678" y="1562100"/>
                  </a:lnTo>
                  <a:lnTo>
                    <a:pt x="5629084" y="1600200"/>
                  </a:lnTo>
                  <a:lnTo>
                    <a:pt x="5649900" y="1638300"/>
                  </a:lnTo>
                  <a:lnTo>
                    <a:pt x="5670118" y="1689100"/>
                  </a:lnTo>
                  <a:lnTo>
                    <a:pt x="5689734" y="1727200"/>
                  </a:lnTo>
                  <a:lnTo>
                    <a:pt x="5708741" y="1765300"/>
                  </a:lnTo>
                  <a:lnTo>
                    <a:pt x="5727134" y="1803400"/>
                  </a:lnTo>
                  <a:lnTo>
                    <a:pt x="5744906" y="1854200"/>
                  </a:lnTo>
                  <a:lnTo>
                    <a:pt x="5762052" y="1892300"/>
                  </a:lnTo>
                  <a:lnTo>
                    <a:pt x="5778567" y="1930400"/>
                  </a:lnTo>
                  <a:lnTo>
                    <a:pt x="5794444" y="1981200"/>
                  </a:lnTo>
                  <a:lnTo>
                    <a:pt x="5809677" y="2019300"/>
                  </a:lnTo>
                  <a:lnTo>
                    <a:pt x="5824262" y="2070100"/>
                  </a:lnTo>
                  <a:lnTo>
                    <a:pt x="5838191" y="2108200"/>
                  </a:lnTo>
                  <a:lnTo>
                    <a:pt x="5851460" y="2146300"/>
                  </a:lnTo>
                  <a:lnTo>
                    <a:pt x="5864062" y="2197100"/>
                  </a:lnTo>
                  <a:lnTo>
                    <a:pt x="5875991" y="2235200"/>
                  </a:lnTo>
                  <a:lnTo>
                    <a:pt x="5887243" y="2286000"/>
                  </a:lnTo>
                  <a:lnTo>
                    <a:pt x="5897811" y="2336800"/>
                  </a:lnTo>
                  <a:lnTo>
                    <a:pt x="5907689" y="2374900"/>
                  </a:lnTo>
                  <a:lnTo>
                    <a:pt x="5916871" y="2425700"/>
                  </a:lnTo>
                  <a:lnTo>
                    <a:pt x="5925352" y="2463800"/>
                  </a:lnTo>
                  <a:lnTo>
                    <a:pt x="5933126" y="2514600"/>
                  </a:lnTo>
                  <a:lnTo>
                    <a:pt x="5940187" y="2565400"/>
                  </a:lnTo>
                  <a:lnTo>
                    <a:pt x="5946530" y="2603500"/>
                  </a:lnTo>
                  <a:lnTo>
                    <a:pt x="5952148" y="2654300"/>
                  </a:lnTo>
                  <a:lnTo>
                    <a:pt x="5957035" y="2705100"/>
                  </a:lnTo>
                  <a:lnTo>
                    <a:pt x="5961187" y="2755900"/>
                  </a:lnTo>
                  <a:lnTo>
                    <a:pt x="5964597" y="2794000"/>
                  </a:lnTo>
                  <a:lnTo>
                    <a:pt x="5967259" y="2844800"/>
                  </a:lnTo>
                  <a:lnTo>
                    <a:pt x="5969167" y="2895600"/>
                  </a:lnTo>
                  <a:lnTo>
                    <a:pt x="5970317" y="2946400"/>
                  </a:lnTo>
                  <a:lnTo>
                    <a:pt x="5970701" y="2984500"/>
                  </a:lnTo>
                  <a:lnTo>
                    <a:pt x="5970317" y="3035300"/>
                  </a:lnTo>
                  <a:lnTo>
                    <a:pt x="5969167" y="3086100"/>
                  </a:lnTo>
                  <a:lnTo>
                    <a:pt x="5967259" y="3136900"/>
                  </a:lnTo>
                  <a:lnTo>
                    <a:pt x="5964597" y="3187700"/>
                  </a:lnTo>
                  <a:lnTo>
                    <a:pt x="5961187" y="3225800"/>
                  </a:lnTo>
                  <a:lnTo>
                    <a:pt x="5957035" y="3276600"/>
                  </a:lnTo>
                  <a:lnTo>
                    <a:pt x="5952148" y="3327400"/>
                  </a:lnTo>
                  <a:lnTo>
                    <a:pt x="5946530" y="3365500"/>
                  </a:lnTo>
                  <a:lnTo>
                    <a:pt x="5940187" y="3416300"/>
                  </a:lnTo>
                  <a:lnTo>
                    <a:pt x="5933126" y="3467100"/>
                  </a:lnTo>
                  <a:lnTo>
                    <a:pt x="5925352" y="3505200"/>
                  </a:lnTo>
                  <a:lnTo>
                    <a:pt x="5916871" y="3556000"/>
                  </a:lnTo>
                  <a:lnTo>
                    <a:pt x="5907689" y="3606800"/>
                  </a:lnTo>
                  <a:lnTo>
                    <a:pt x="5897811" y="3644900"/>
                  </a:lnTo>
                  <a:lnTo>
                    <a:pt x="5887243" y="3695700"/>
                  </a:lnTo>
                  <a:lnTo>
                    <a:pt x="5875991" y="3733800"/>
                  </a:lnTo>
                  <a:lnTo>
                    <a:pt x="5864062" y="3784600"/>
                  </a:lnTo>
                  <a:lnTo>
                    <a:pt x="5851460" y="3822700"/>
                  </a:lnTo>
                  <a:lnTo>
                    <a:pt x="5838191" y="3873500"/>
                  </a:lnTo>
                  <a:lnTo>
                    <a:pt x="5824262" y="3911600"/>
                  </a:lnTo>
                  <a:lnTo>
                    <a:pt x="5809677" y="3962400"/>
                  </a:lnTo>
                  <a:lnTo>
                    <a:pt x="5794444" y="4000500"/>
                  </a:lnTo>
                  <a:lnTo>
                    <a:pt x="5778567" y="4051300"/>
                  </a:lnTo>
                  <a:lnTo>
                    <a:pt x="5762052" y="4089400"/>
                  </a:lnTo>
                  <a:lnTo>
                    <a:pt x="5744906" y="4127500"/>
                  </a:lnTo>
                  <a:lnTo>
                    <a:pt x="5727134" y="4178300"/>
                  </a:lnTo>
                  <a:lnTo>
                    <a:pt x="5708741" y="4216400"/>
                  </a:lnTo>
                  <a:lnTo>
                    <a:pt x="5689734" y="4254500"/>
                  </a:lnTo>
                  <a:lnTo>
                    <a:pt x="5670118" y="4292600"/>
                  </a:lnTo>
                  <a:lnTo>
                    <a:pt x="5649900" y="4343400"/>
                  </a:lnTo>
                  <a:lnTo>
                    <a:pt x="5629084" y="4381500"/>
                  </a:lnTo>
                  <a:lnTo>
                    <a:pt x="5607678" y="4419600"/>
                  </a:lnTo>
                  <a:lnTo>
                    <a:pt x="5585685" y="4457700"/>
                  </a:lnTo>
                  <a:lnTo>
                    <a:pt x="5563113" y="4495800"/>
                  </a:lnTo>
                  <a:lnTo>
                    <a:pt x="5539968" y="4533900"/>
                  </a:lnTo>
                  <a:lnTo>
                    <a:pt x="5516254" y="4572000"/>
                  </a:lnTo>
                  <a:lnTo>
                    <a:pt x="5491978" y="4610100"/>
                  </a:lnTo>
                  <a:lnTo>
                    <a:pt x="5467145" y="4648200"/>
                  </a:lnTo>
                  <a:lnTo>
                    <a:pt x="5441761" y="4686300"/>
                  </a:lnTo>
                  <a:lnTo>
                    <a:pt x="5415833" y="4724400"/>
                  </a:lnTo>
                  <a:lnTo>
                    <a:pt x="5389366" y="4762500"/>
                  </a:lnTo>
                  <a:lnTo>
                    <a:pt x="5362365" y="4800600"/>
                  </a:lnTo>
                  <a:lnTo>
                    <a:pt x="5334836" y="4826000"/>
                  </a:lnTo>
                  <a:lnTo>
                    <a:pt x="5306786" y="4864100"/>
                  </a:lnTo>
                  <a:lnTo>
                    <a:pt x="5278220" y="4902200"/>
                  </a:lnTo>
                  <a:lnTo>
                    <a:pt x="5249144" y="4940300"/>
                  </a:lnTo>
                  <a:lnTo>
                    <a:pt x="5219563" y="4965700"/>
                  </a:lnTo>
                  <a:lnTo>
                    <a:pt x="5189484" y="5003800"/>
                  </a:lnTo>
                  <a:lnTo>
                    <a:pt x="5158912" y="5041900"/>
                  </a:lnTo>
                  <a:lnTo>
                    <a:pt x="5127853" y="5067300"/>
                  </a:lnTo>
                  <a:lnTo>
                    <a:pt x="5096312" y="5105400"/>
                  </a:lnTo>
                  <a:lnTo>
                    <a:pt x="5064297" y="5130800"/>
                  </a:lnTo>
                  <a:lnTo>
                    <a:pt x="5031811" y="5168900"/>
                  </a:lnTo>
                  <a:lnTo>
                    <a:pt x="4998862" y="5194300"/>
                  </a:lnTo>
                  <a:lnTo>
                    <a:pt x="4965455" y="5219700"/>
                  </a:lnTo>
                  <a:lnTo>
                    <a:pt x="4931596" y="5257800"/>
                  </a:lnTo>
                  <a:lnTo>
                    <a:pt x="4897290" y="5283200"/>
                  </a:lnTo>
                  <a:lnTo>
                    <a:pt x="4827362" y="5334000"/>
                  </a:lnTo>
                  <a:lnTo>
                    <a:pt x="4791751" y="5372100"/>
                  </a:lnTo>
                  <a:lnTo>
                    <a:pt x="4755717" y="5397500"/>
                  </a:lnTo>
                  <a:lnTo>
                    <a:pt x="4682403" y="5448300"/>
                  </a:lnTo>
                  <a:lnTo>
                    <a:pt x="4607465" y="5499100"/>
                  </a:lnTo>
                  <a:lnTo>
                    <a:pt x="4530949" y="5549900"/>
                  </a:lnTo>
                  <a:lnTo>
                    <a:pt x="4492114" y="5562600"/>
                  </a:lnTo>
                  <a:lnTo>
                    <a:pt x="4373371" y="5638800"/>
                  </a:lnTo>
                  <a:lnTo>
                    <a:pt x="4333064" y="5651500"/>
                  </a:lnTo>
                  <a:lnTo>
                    <a:pt x="4292402" y="5676900"/>
                  </a:lnTo>
                  <a:lnTo>
                    <a:pt x="4251392" y="5689600"/>
                  </a:lnTo>
                  <a:lnTo>
                    <a:pt x="4210041" y="5715000"/>
                  </a:lnTo>
                  <a:lnTo>
                    <a:pt x="4168352" y="5727700"/>
                  </a:lnTo>
                  <a:lnTo>
                    <a:pt x="4126333" y="5753100"/>
                  </a:lnTo>
                  <a:lnTo>
                    <a:pt x="4041327" y="5778500"/>
                  </a:lnTo>
                  <a:lnTo>
                    <a:pt x="3998351" y="5803900"/>
                  </a:lnTo>
                  <a:lnTo>
                    <a:pt x="3598427" y="5918200"/>
                  </a:lnTo>
                  <a:close/>
                </a:path>
                <a:path w="5970905" h="5969000">
                  <a:moveTo>
                    <a:pt x="3460314" y="5943600"/>
                  </a:moveTo>
                  <a:lnTo>
                    <a:pt x="2510387" y="5943600"/>
                  </a:lnTo>
                  <a:lnTo>
                    <a:pt x="2418064" y="5918200"/>
                  </a:lnTo>
                  <a:lnTo>
                    <a:pt x="3552637" y="5918200"/>
                  </a:lnTo>
                  <a:lnTo>
                    <a:pt x="3460314" y="5943600"/>
                  </a:lnTo>
                  <a:close/>
                </a:path>
                <a:path w="5970905" h="5969000">
                  <a:moveTo>
                    <a:pt x="3367040" y="5956300"/>
                  </a:moveTo>
                  <a:lnTo>
                    <a:pt x="2603661" y="5956300"/>
                  </a:lnTo>
                  <a:lnTo>
                    <a:pt x="2556908" y="5943600"/>
                  </a:lnTo>
                  <a:lnTo>
                    <a:pt x="3413793" y="5943600"/>
                  </a:lnTo>
                  <a:lnTo>
                    <a:pt x="3367040" y="5956300"/>
                  </a:lnTo>
                  <a:close/>
                </a:path>
                <a:path w="5970905" h="5969000">
                  <a:moveTo>
                    <a:pt x="3225445" y="5969000"/>
                  </a:moveTo>
                  <a:lnTo>
                    <a:pt x="2745256" y="5969000"/>
                  </a:lnTo>
                  <a:lnTo>
                    <a:pt x="2697841" y="5956300"/>
                  </a:lnTo>
                  <a:lnTo>
                    <a:pt x="3272860" y="5956300"/>
                  </a:lnTo>
                  <a:lnTo>
                    <a:pt x="3225445" y="596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63052" y="6873043"/>
              <a:ext cx="1892037" cy="189203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61736" y="3674458"/>
              <a:ext cx="2155070" cy="215507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73006" y="1496555"/>
              <a:ext cx="3185720" cy="318572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6037566" y="9416426"/>
            <a:ext cx="1043940" cy="28789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spc="90" dirty="0">
                <a:solidFill>
                  <a:srgbClr val="240960"/>
                </a:solidFill>
                <a:latin typeface="Tahoma"/>
                <a:cs typeface="Tahoma"/>
              </a:rPr>
              <a:t>Page</a:t>
            </a:r>
            <a:r>
              <a:rPr sz="1800" b="1" spc="295" dirty="0">
                <a:solidFill>
                  <a:srgbClr val="24096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240960"/>
                </a:solidFill>
                <a:latin typeface="Verdana"/>
                <a:cs typeface="Verdana"/>
              </a:rPr>
              <a:t>0</a:t>
            </a:r>
            <a:r>
              <a:rPr lang="en-US" sz="1800" spc="-35" dirty="0">
                <a:solidFill>
                  <a:srgbClr val="240960"/>
                </a:solidFill>
                <a:latin typeface="Verdana"/>
                <a:cs typeface="Verdana"/>
              </a:rPr>
              <a:t>8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E0A2C2F3-A32F-7F70-E4BE-6785F8CF126D}"/>
              </a:ext>
            </a:extLst>
          </p:cNvPr>
          <p:cNvSpPr/>
          <p:nvPr/>
        </p:nvSpPr>
        <p:spPr>
          <a:xfrm>
            <a:off x="3524731" y="98020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362AA6BE-8E8B-D382-ABEB-3303804EB0A0}"/>
              </a:ext>
            </a:extLst>
          </p:cNvPr>
          <p:cNvSpPr/>
          <p:nvPr/>
        </p:nvSpPr>
        <p:spPr>
          <a:xfrm>
            <a:off x="152842" y="567862"/>
            <a:ext cx="8774301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3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SMART TIME-BASED TRACKING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8AD146DA-0209-4ED1-BD1F-2195D04BB53F}"/>
              </a:ext>
            </a:extLst>
          </p:cNvPr>
          <p:cNvSpPr/>
          <p:nvPr/>
        </p:nvSpPr>
        <p:spPr>
          <a:xfrm>
            <a:off x="2586429" y="1051805"/>
            <a:ext cx="10085519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Status is auto-calculated by comparing the current clock time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against the doctor-set slot window. No manual configuration needed.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FA6A6665-2AE4-2FF3-1FDB-FB237B079300}"/>
              </a:ext>
            </a:extLst>
          </p:cNvPr>
          <p:cNvSpPr/>
          <p:nvPr/>
        </p:nvSpPr>
        <p:spPr>
          <a:xfrm>
            <a:off x="209340" y="3520888"/>
            <a:ext cx="2979849" cy="4480901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232D7310-CCBF-BF86-FC90-32C5CA0E1C3D}"/>
              </a:ext>
            </a:extLst>
          </p:cNvPr>
          <p:cNvSpPr/>
          <p:nvPr/>
        </p:nvSpPr>
        <p:spPr>
          <a:xfrm>
            <a:off x="376362" y="3424690"/>
            <a:ext cx="2783357" cy="923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UPCOMING</a:t>
            </a:r>
            <a:endParaRPr lang="en-US" sz="3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271C61FF-406C-3E71-C492-7E50903210A7}"/>
              </a:ext>
            </a:extLst>
          </p:cNvPr>
          <p:cNvSpPr/>
          <p:nvPr/>
        </p:nvSpPr>
        <p:spPr>
          <a:xfrm>
            <a:off x="347214" y="4915419"/>
            <a:ext cx="2622064" cy="2685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Slot has not opened yet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Mark Taken button hidden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F7E5799C-3C95-2438-DA13-B173941F01DA}"/>
              </a:ext>
            </a:extLst>
          </p:cNvPr>
          <p:cNvSpPr/>
          <p:nvPr/>
        </p:nvSpPr>
        <p:spPr>
          <a:xfrm>
            <a:off x="3780778" y="3520892"/>
            <a:ext cx="2933017" cy="4480897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4AFF560C-817C-292A-5ED3-F3606C5842FA}"/>
              </a:ext>
            </a:extLst>
          </p:cNvPr>
          <p:cNvSpPr/>
          <p:nvPr/>
        </p:nvSpPr>
        <p:spPr>
          <a:xfrm>
            <a:off x="3764779" y="3773462"/>
            <a:ext cx="2559634" cy="923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PENDING</a:t>
            </a:r>
            <a:endParaRPr lang="en-US" sz="3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38D242A3-EB89-7738-706D-4387A799CCEE}"/>
              </a:ext>
            </a:extLst>
          </p:cNvPr>
          <p:cNvSpPr/>
          <p:nvPr/>
        </p:nvSpPr>
        <p:spPr>
          <a:xfrm>
            <a:off x="3931149" y="4958840"/>
            <a:ext cx="2622064" cy="2685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Slot is active right now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Mark Taken button shown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94809BF4-0E0A-0076-F33C-25DF52DEBBB3}"/>
              </a:ext>
            </a:extLst>
          </p:cNvPr>
          <p:cNvSpPr/>
          <p:nvPr/>
        </p:nvSpPr>
        <p:spPr>
          <a:xfrm>
            <a:off x="7338877" y="3515166"/>
            <a:ext cx="2977547" cy="4480895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BFC768D6-3113-D908-F4DE-470D20F6A0D5}"/>
              </a:ext>
            </a:extLst>
          </p:cNvPr>
          <p:cNvSpPr/>
          <p:nvPr/>
        </p:nvSpPr>
        <p:spPr>
          <a:xfrm>
            <a:off x="7370092" y="3722797"/>
            <a:ext cx="2559634" cy="923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 TIME</a:t>
            </a:r>
            <a:endParaRPr lang="en-US" sz="3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55162D1A-D7FA-41A2-0561-37025F88D758}"/>
              </a:ext>
            </a:extLst>
          </p:cNvPr>
          <p:cNvSpPr/>
          <p:nvPr/>
        </p:nvSpPr>
        <p:spPr>
          <a:xfrm>
            <a:off x="7518696" y="4853460"/>
            <a:ext cx="2622064" cy="2685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Medicine marked within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the slot window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3646C737-F5A0-DBCA-F96B-32EBB2F69D46}"/>
              </a:ext>
            </a:extLst>
          </p:cNvPr>
          <p:cNvSpPr/>
          <p:nvPr/>
        </p:nvSpPr>
        <p:spPr>
          <a:xfrm>
            <a:off x="11043302" y="3515166"/>
            <a:ext cx="3036636" cy="4532694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C43D7AC6-1AA1-D0F8-4ACA-D2DDDE655AD9}"/>
              </a:ext>
            </a:extLst>
          </p:cNvPr>
          <p:cNvSpPr/>
          <p:nvPr/>
        </p:nvSpPr>
        <p:spPr>
          <a:xfrm>
            <a:off x="11050124" y="3799082"/>
            <a:ext cx="2559634" cy="923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LATE</a:t>
            </a:r>
            <a:endParaRPr lang="en-US" sz="3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F79B9A45-E2D7-18D0-7909-8E41B739EBC9}"/>
              </a:ext>
            </a:extLst>
          </p:cNvPr>
          <p:cNvSpPr/>
          <p:nvPr/>
        </p:nvSpPr>
        <p:spPr>
          <a:xfrm>
            <a:off x="11194285" y="4958840"/>
            <a:ext cx="2622064" cy="2685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Marked after the slot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window already closed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81C82B8A-E665-04F7-BFEE-9AC37139CF4D}"/>
              </a:ext>
            </a:extLst>
          </p:cNvPr>
          <p:cNvSpPr/>
          <p:nvPr/>
        </p:nvSpPr>
        <p:spPr>
          <a:xfrm>
            <a:off x="14772900" y="3515166"/>
            <a:ext cx="3005252" cy="4480901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85BCDC40-8B6B-5360-0E1F-B0ECB7DCAD64}"/>
              </a:ext>
            </a:extLst>
          </p:cNvPr>
          <p:cNvSpPr/>
          <p:nvPr/>
        </p:nvSpPr>
        <p:spPr>
          <a:xfrm>
            <a:off x="14899586" y="3828208"/>
            <a:ext cx="2559634" cy="923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MISSED</a:t>
            </a:r>
            <a:endParaRPr lang="en-US" sz="3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D69407A8-3DAE-E432-BCCB-6B848574A786}"/>
              </a:ext>
            </a:extLst>
          </p:cNvPr>
          <p:cNvSpPr/>
          <p:nvPr/>
        </p:nvSpPr>
        <p:spPr>
          <a:xfrm>
            <a:off x="14982573" y="5031061"/>
            <a:ext cx="2622064" cy="2685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Window passed and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not marked — auto-set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82317E38-6952-88F8-7524-6DAD8C3E1E4A}"/>
              </a:ext>
            </a:extLst>
          </p:cNvPr>
          <p:cNvSpPr/>
          <p:nvPr/>
        </p:nvSpPr>
        <p:spPr>
          <a:xfrm>
            <a:off x="1564094" y="8447682"/>
            <a:ext cx="12675111" cy="1219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All statuses are driven entirely by the backend — the frontend just displays them.</a:t>
            </a: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3952240"/>
            <a:chOff x="0" y="0"/>
            <a:chExt cx="18288000" cy="39522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9937" y="875500"/>
              <a:ext cx="485775" cy="40002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8000" cy="395162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0" y="9166596"/>
            <a:ext cx="18288000" cy="1120775"/>
            <a:chOff x="0" y="9166596"/>
            <a:chExt cx="18288000" cy="112077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166596"/>
              <a:ext cx="18288000" cy="112040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28702" y="9444474"/>
              <a:ext cx="415290" cy="415290"/>
            </a:xfrm>
            <a:custGeom>
              <a:avLst/>
              <a:gdLst/>
              <a:ahLst/>
              <a:cxnLst/>
              <a:rect l="l" t="t" r="r" b="b"/>
              <a:pathLst>
                <a:path w="415290" h="415290">
                  <a:moveTo>
                    <a:pt x="207607" y="415195"/>
                  </a:moveTo>
                  <a:lnTo>
                    <a:pt x="159648" y="409672"/>
                  </a:lnTo>
                  <a:lnTo>
                    <a:pt x="159892" y="409672"/>
                  </a:lnTo>
                  <a:lnTo>
                    <a:pt x="116212" y="394033"/>
                  </a:lnTo>
                  <a:lnTo>
                    <a:pt x="79242" y="370532"/>
                  </a:lnTo>
                  <a:lnTo>
                    <a:pt x="45570" y="337380"/>
                  </a:lnTo>
                  <a:lnTo>
                    <a:pt x="21082" y="298849"/>
                  </a:lnTo>
                  <a:lnTo>
                    <a:pt x="5476" y="255170"/>
                  </a:lnTo>
                  <a:lnTo>
                    <a:pt x="0" y="207585"/>
                  </a:lnTo>
                  <a:lnTo>
                    <a:pt x="5485" y="159987"/>
                  </a:lnTo>
                  <a:lnTo>
                    <a:pt x="21102" y="116294"/>
                  </a:lnTo>
                  <a:lnTo>
                    <a:pt x="45607" y="77751"/>
                  </a:lnTo>
                  <a:lnTo>
                    <a:pt x="77755" y="45604"/>
                  </a:lnTo>
                  <a:lnTo>
                    <a:pt x="116302" y="21099"/>
                  </a:lnTo>
                  <a:lnTo>
                    <a:pt x="160001" y="5482"/>
                  </a:lnTo>
                  <a:lnTo>
                    <a:pt x="207607" y="0"/>
                  </a:lnTo>
                  <a:lnTo>
                    <a:pt x="255206" y="5482"/>
                  </a:lnTo>
                  <a:lnTo>
                    <a:pt x="292757" y="18902"/>
                  </a:lnTo>
                  <a:lnTo>
                    <a:pt x="207607" y="18902"/>
                  </a:lnTo>
                  <a:lnTo>
                    <a:pt x="157444" y="25642"/>
                  </a:lnTo>
                  <a:lnTo>
                    <a:pt x="112367" y="44662"/>
                  </a:lnTo>
                  <a:lnTo>
                    <a:pt x="74174" y="74164"/>
                  </a:lnTo>
                  <a:lnTo>
                    <a:pt x="44666" y="112351"/>
                  </a:lnTo>
                  <a:lnTo>
                    <a:pt x="25641" y="157424"/>
                  </a:lnTo>
                  <a:lnTo>
                    <a:pt x="18899" y="207585"/>
                  </a:lnTo>
                  <a:lnTo>
                    <a:pt x="25641" y="257757"/>
                  </a:lnTo>
                  <a:lnTo>
                    <a:pt x="44666" y="302836"/>
                  </a:lnTo>
                  <a:lnTo>
                    <a:pt x="74174" y="341027"/>
                  </a:lnTo>
                  <a:lnTo>
                    <a:pt x="112367" y="370532"/>
                  </a:lnTo>
                  <a:lnTo>
                    <a:pt x="157444" y="389553"/>
                  </a:lnTo>
                  <a:lnTo>
                    <a:pt x="207607" y="396293"/>
                  </a:lnTo>
                  <a:lnTo>
                    <a:pt x="292550" y="396293"/>
                  </a:lnTo>
                  <a:lnTo>
                    <a:pt x="255184" y="409672"/>
                  </a:lnTo>
                  <a:lnTo>
                    <a:pt x="207607" y="415195"/>
                  </a:lnTo>
                  <a:close/>
                </a:path>
                <a:path w="415290" h="415290">
                  <a:moveTo>
                    <a:pt x="292550" y="396293"/>
                  </a:moveTo>
                  <a:lnTo>
                    <a:pt x="207607" y="396293"/>
                  </a:lnTo>
                  <a:lnTo>
                    <a:pt x="257770" y="389553"/>
                  </a:lnTo>
                  <a:lnTo>
                    <a:pt x="302847" y="370532"/>
                  </a:lnTo>
                  <a:lnTo>
                    <a:pt x="341040" y="341027"/>
                  </a:lnTo>
                  <a:lnTo>
                    <a:pt x="370548" y="302836"/>
                  </a:lnTo>
                  <a:lnTo>
                    <a:pt x="389573" y="257757"/>
                  </a:lnTo>
                  <a:lnTo>
                    <a:pt x="396314" y="207585"/>
                  </a:lnTo>
                  <a:lnTo>
                    <a:pt x="389517" y="157424"/>
                  </a:lnTo>
                  <a:lnTo>
                    <a:pt x="372131" y="116294"/>
                  </a:lnTo>
                  <a:lnTo>
                    <a:pt x="343704" y="77751"/>
                  </a:lnTo>
                  <a:lnTo>
                    <a:pt x="303946" y="45604"/>
                  </a:lnTo>
                  <a:lnTo>
                    <a:pt x="257655" y="25642"/>
                  </a:lnTo>
                  <a:lnTo>
                    <a:pt x="257466" y="25642"/>
                  </a:lnTo>
                  <a:lnTo>
                    <a:pt x="207607" y="18902"/>
                  </a:lnTo>
                  <a:lnTo>
                    <a:pt x="292757" y="18902"/>
                  </a:lnTo>
                  <a:lnTo>
                    <a:pt x="298903" y="21099"/>
                  </a:lnTo>
                  <a:lnTo>
                    <a:pt x="337451" y="45604"/>
                  </a:lnTo>
                  <a:lnTo>
                    <a:pt x="369604" y="77751"/>
                  </a:lnTo>
                  <a:lnTo>
                    <a:pt x="394113" y="116294"/>
                  </a:lnTo>
                  <a:lnTo>
                    <a:pt x="409733" y="159987"/>
                  </a:lnTo>
                  <a:lnTo>
                    <a:pt x="415217" y="207585"/>
                  </a:lnTo>
                  <a:lnTo>
                    <a:pt x="409692" y="255170"/>
                  </a:lnTo>
                  <a:lnTo>
                    <a:pt x="394051" y="298849"/>
                  </a:lnTo>
                  <a:lnTo>
                    <a:pt x="369536" y="337380"/>
                  </a:lnTo>
                  <a:lnTo>
                    <a:pt x="337392" y="369522"/>
                  </a:lnTo>
                  <a:lnTo>
                    <a:pt x="298860" y="394033"/>
                  </a:lnTo>
                  <a:lnTo>
                    <a:pt x="292550" y="396293"/>
                  </a:lnTo>
                  <a:close/>
                </a:path>
                <a:path w="415290" h="415290">
                  <a:moveTo>
                    <a:pt x="226928" y="329025"/>
                  </a:moveTo>
                  <a:lnTo>
                    <a:pt x="181000" y="329025"/>
                  </a:lnTo>
                  <a:lnTo>
                    <a:pt x="287058" y="222402"/>
                  </a:lnTo>
                  <a:lnTo>
                    <a:pt x="98572" y="222402"/>
                  </a:lnTo>
                  <a:lnTo>
                    <a:pt x="98572" y="184597"/>
                  </a:lnTo>
                  <a:lnTo>
                    <a:pt x="281397" y="184597"/>
                  </a:lnTo>
                  <a:lnTo>
                    <a:pt x="175487" y="78490"/>
                  </a:lnTo>
                  <a:lnTo>
                    <a:pt x="221243" y="78490"/>
                  </a:lnTo>
                  <a:lnTo>
                    <a:pt x="349107" y="206355"/>
                  </a:lnTo>
                  <a:lnTo>
                    <a:pt x="226928" y="329025"/>
                  </a:lnTo>
                  <a:close/>
                </a:path>
              </a:pathLst>
            </a:custGeom>
            <a:solidFill>
              <a:srgbClr val="2409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1254834" y="844673"/>
            <a:ext cx="6594323" cy="8446054"/>
          </a:xfrm>
          <a:custGeom>
            <a:avLst/>
            <a:gdLst/>
            <a:ahLst/>
            <a:cxnLst/>
            <a:rect l="l" t="t" r="r" b="b"/>
            <a:pathLst>
              <a:path w="4982210" h="3996690">
                <a:moveTo>
                  <a:pt x="0" y="0"/>
                </a:moveTo>
                <a:lnTo>
                  <a:pt x="4981694" y="0"/>
                </a:lnTo>
                <a:lnTo>
                  <a:pt x="4981694" y="3996183"/>
                </a:lnTo>
                <a:lnTo>
                  <a:pt x="0" y="3996183"/>
                </a:lnTo>
                <a:lnTo>
                  <a:pt x="0" y="0"/>
                </a:lnTo>
                <a:close/>
              </a:path>
            </a:pathLst>
          </a:custGeom>
          <a:ln w="1142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1912708" y="723900"/>
            <a:ext cx="6146691" cy="8442696"/>
            <a:chOff x="11912709" y="4323095"/>
            <a:chExt cx="5096510" cy="4110990"/>
          </a:xfrm>
        </p:grpSpPr>
        <p:sp>
          <p:nvSpPr>
            <p:cNvPr id="18" name="object 18"/>
            <p:cNvSpPr/>
            <p:nvPr/>
          </p:nvSpPr>
          <p:spPr>
            <a:xfrm>
              <a:off x="11969859" y="4380245"/>
              <a:ext cx="4982210" cy="3996690"/>
            </a:xfrm>
            <a:custGeom>
              <a:avLst/>
              <a:gdLst/>
              <a:ahLst/>
              <a:cxnLst/>
              <a:rect l="l" t="t" r="r" b="b"/>
              <a:pathLst>
                <a:path w="4982209" h="3996690">
                  <a:moveTo>
                    <a:pt x="0" y="0"/>
                  </a:moveTo>
                  <a:lnTo>
                    <a:pt x="4981694" y="0"/>
                  </a:lnTo>
                  <a:lnTo>
                    <a:pt x="4981694" y="3996183"/>
                  </a:lnTo>
                  <a:lnTo>
                    <a:pt x="0" y="3996183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83980" y="5079129"/>
              <a:ext cx="262038" cy="262038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70" y="0"/>
            <a:ext cx="2504251" cy="260250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6037566" y="9416426"/>
            <a:ext cx="1050925" cy="28789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spc="90" dirty="0">
                <a:solidFill>
                  <a:srgbClr val="240960"/>
                </a:solidFill>
                <a:latin typeface="Tahoma"/>
                <a:cs typeface="Tahoma"/>
              </a:rPr>
              <a:t>Page</a:t>
            </a:r>
            <a:r>
              <a:rPr sz="1800" b="1" spc="295" dirty="0">
                <a:solidFill>
                  <a:srgbClr val="240960"/>
                </a:solidFill>
                <a:latin typeface="Tahoma"/>
                <a:cs typeface="Tahoma"/>
              </a:rPr>
              <a:t> </a:t>
            </a:r>
            <a:r>
              <a:rPr lang="en-US" sz="1800" b="1" spc="-35" dirty="0">
                <a:solidFill>
                  <a:srgbClr val="240960"/>
                </a:solidFill>
                <a:latin typeface="Verdana"/>
                <a:cs typeface="Tahoma"/>
              </a:rPr>
              <a:t>09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1B1AC4C1-3876-D25D-4B4A-E3FCCCD579C3}"/>
              </a:ext>
            </a:extLst>
          </p:cNvPr>
          <p:cNvSpPr/>
          <p:nvPr/>
        </p:nvSpPr>
        <p:spPr>
          <a:xfrm>
            <a:off x="1600200" y="8488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0AED53A2-B99B-64FA-7141-0037699C12FD}"/>
              </a:ext>
            </a:extLst>
          </p:cNvPr>
          <p:cNvSpPr/>
          <p:nvPr/>
        </p:nvSpPr>
        <p:spPr>
          <a:xfrm>
            <a:off x="2595201" y="996273"/>
            <a:ext cx="4044042" cy="835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3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AI MEDICATION ASSISTANT</a:t>
            </a:r>
            <a:endParaRPr lang="en-US" sz="3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8D826CE9-360F-86D9-E761-6CDC0F6EC083}"/>
              </a:ext>
            </a:extLst>
          </p:cNvPr>
          <p:cNvSpPr/>
          <p:nvPr/>
        </p:nvSpPr>
        <p:spPr>
          <a:xfrm>
            <a:off x="1512817" y="2822521"/>
            <a:ext cx="842418" cy="649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3BAD70C2-A5E3-1F14-6471-731E6CFE23A5}"/>
              </a:ext>
            </a:extLst>
          </p:cNvPr>
          <p:cNvSpPr/>
          <p:nvPr/>
        </p:nvSpPr>
        <p:spPr>
          <a:xfrm>
            <a:off x="2472938" y="2765992"/>
            <a:ext cx="5070862" cy="205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Patient asks a question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729F2884-0600-3E5C-178C-9078E63FDCDF}"/>
              </a:ext>
            </a:extLst>
          </p:cNvPr>
          <p:cNvSpPr/>
          <p:nvPr/>
        </p:nvSpPr>
        <p:spPr>
          <a:xfrm>
            <a:off x="2472938" y="3124271"/>
            <a:ext cx="5070862" cy="8138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2060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Via the floating chat button on the Patient Dashboard</a:t>
            </a:r>
            <a:endParaRPr lang="en-US" sz="2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0E316DC4-BE0C-BE56-0A62-A17F9DEDF93C}"/>
              </a:ext>
            </a:extLst>
          </p:cNvPr>
          <p:cNvSpPr/>
          <p:nvPr/>
        </p:nvSpPr>
        <p:spPr>
          <a:xfrm>
            <a:off x="1512014" y="4207200"/>
            <a:ext cx="781812" cy="7313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D7151355-1C66-9C43-2DDE-A8304C516D57}"/>
              </a:ext>
            </a:extLst>
          </p:cNvPr>
          <p:cNvSpPr/>
          <p:nvPr/>
        </p:nvSpPr>
        <p:spPr>
          <a:xfrm>
            <a:off x="2293826" y="3997967"/>
            <a:ext cx="4507822" cy="719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reads real prescriptions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04BE1096-F163-FF96-0CA6-4EF0CC2D6A1C}"/>
              </a:ext>
            </a:extLst>
          </p:cNvPr>
          <p:cNvSpPr/>
          <p:nvPr/>
        </p:nvSpPr>
        <p:spPr>
          <a:xfrm>
            <a:off x="2251917" y="4573670"/>
            <a:ext cx="5291884" cy="852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2060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Fetches actual medicine data directly from MySQL for that patient</a:t>
            </a:r>
            <a:endParaRPr lang="en-US" sz="2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870332E8-1737-60B0-CC10-65B0CA4651A8}"/>
              </a:ext>
            </a:extLst>
          </p:cNvPr>
          <p:cNvSpPr/>
          <p:nvPr/>
        </p:nvSpPr>
        <p:spPr>
          <a:xfrm>
            <a:off x="1500805" y="5788559"/>
            <a:ext cx="711708" cy="572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43C23D97-5C37-9560-94CD-D87C466E9775}"/>
              </a:ext>
            </a:extLst>
          </p:cNvPr>
          <p:cNvSpPr/>
          <p:nvPr/>
        </p:nvSpPr>
        <p:spPr>
          <a:xfrm>
            <a:off x="2293826" y="5646272"/>
            <a:ext cx="4731071" cy="4378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Groq LLM generates answer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315F63D0-9BD8-21B8-9DCC-C7DCDFCE7205}"/>
              </a:ext>
            </a:extLst>
          </p:cNvPr>
          <p:cNvSpPr/>
          <p:nvPr/>
        </p:nvSpPr>
        <p:spPr>
          <a:xfrm>
            <a:off x="2227753" y="6138097"/>
            <a:ext cx="5623559" cy="948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2060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Llama 3.1 8B Instant — fast, accurate, context-aware response</a:t>
            </a:r>
            <a:endParaRPr lang="en-US" sz="2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0FE05E6B-8425-9B86-1C3C-F7952090FC23}"/>
              </a:ext>
            </a:extLst>
          </p:cNvPr>
          <p:cNvSpPr/>
          <p:nvPr/>
        </p:nvSpPr>
        <p:spPr>
          <a:xfrm>
            <a:off x="1516046" y="7579727"/>
            <a:ext cx="902970" cy="390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39E4530B-AA17-BEE9-26EA-8BE08BD3CB10}"/>
              </a:ext>
            </a:extLst>
          </p:cNvPr>
          <p:cNvSpPr/>
          <p:nvPr/>
        </p:nvSpPr>
        <p:spPr>
          <a:xfrm>
            <a:off x="2373075" y="7386272"/>
            <a:ext cx="4480560" cy="486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Chat saved to database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19E0A40A-F85E-6E6B-5583-C3828DDB35A1}"/>
              </a:ext>
            </a:extLst>
          </p:cNvPr>
          <p:cNvSpPr/>
          <p:nvPr/>
        </p:nvSpPr>
        <p:spPr>
          <a:xfrm>
            <a:off x="2293826" y="7953436"/>
            <a:ext cx="5511939" cy="1102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2060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Full conversation history stored in chat_history table</a:t>
            </a:r>
            <a:endParaRPr lang="en-US" sz="2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F76F7489-7DFF-9290-08E3-82DEF6DF9F4D}"/>
              </a:ext>
            </a:extLst>
          </p:cNvPr>
          <p:cNvSpPr/>
          <p:nvPr/>
        </p:nvSpPr>
        <p:spPr>
          <a:xfrm>
            <a:off x="12018792" y="885549"/>
            <a:ext cx="6008838" cy="8140298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C7874DD3-AFBF-1698-C44A-371A7D125806}"/>
              </a:ext>
            </a:extLst>
          </p:cNvPr>
          <p:cNvSpPr/>
          <p:nvPr/>
        </p:nvSpPr>
        <p:spPr>
          <a:xfrm>
            <a:off x="12105072" y="1104900"/>
            <a:ext cx="6528294" cy="848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CAPABILITIES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0C8410A8-90A9-E107-D8D8-BB3D2C177A01}"/>
              </a:ext>
            </a:extLst>
          </p:cNvPr>
          <p:cNvSpPr/>
          <p:nvPr/>
        </p:nvSpPr>
        <p:spPr>
          <a:xfrm>
            <a:off x="12105072" y="2039764"/>
            <a:ext cx="6359166" cy="868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→  Medication schedule &amp; timing queries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A7F8D00A-EF05-B736-1E72-4111332F8826}"/>
              </a:ext>
            </a:extLst>
          </p:cNvPr>
          <p:cNvSpPr/>
          <p:nvPr/>
        </p:nvSpPr>
        <p:spPr>
          <a:xfrm>
            <a:off x="12089832" y="3015949"/>
            <a:ext cx="6359166" cy="1071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→  Dosage information and instructions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C6952364-5B5A-E48F-37B5-8D19F79FC484}"/>
              </a:ext>
            </a:extLst>
          </p:cNvPr>
          <p:cNvSpPr/>
          <p:nvPr/>
        </p:nvSpPr>
        <p:spPr>
          <a:xfrm>
            <a:off x="12089832" y="4054731"/>
            <a:ext cx="6359166" cy="1071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→  Side effects awareness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52C1D735-FB58-F8EC-3FDD-F50F83EFE8CF}"/>
              </a:ext>
            </a:extLst>
          </p:cNvPr>
          <p:cNvSpPr/>
          <p:nvPr/>
        </p:nvSpPr>
        <p:spPr>
          <a:xfrm>
            <a:off x="12105072" y="5006120"/>
            <a:ext cx="6359166" cy="1071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→  Drug interaction checks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87A80FF0-4694-BB90-A94E-F89E2D7DAE6F}"/>
              </a:ext>
            </a:extLst>
          </p:cNvPr>
          <p:cNvSpPr/>
          <p:nvPr/>
        </p:nvSpPr>
        <p:spPr>
          <a:xfrm>
            <a:off x="12105072" y="5897261"/>
            <a:ext cx="6359166" cy="1071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→  Refill reminder guidance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29">
            <a:extLst>
              <a:ext uri="{FF2B5EF4-FFF2-40B4-BE49-F238E27FC236}">
                <a16:creationId xmlns:a16="http://schemas.microsoft.com/office/drawing/2014/main" id="{33988C23-56A3-21A1-5EEE-4CD7270159AA}"/>
              </a:ext>
            </a:extLst>
          </p:cNvPr>
          <p:cNvSpPr/>
          <p:nvPr/>
        </p:nvSpPr>
        <p:spPr>
          <a:xfrm>
            <a:off x="12120312" y="6852826"/>
            <a:ext cx="6359166" cy="1071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→  Never diagnoses — always ends with: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"Please consult your doctor"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28296F89-DB3A-2C17-7C7D-BDCC42D9B57C}"/>
              </a:ext>
            </a:extLst>
          </p:cNvPr>
          <p:cNvSpPr/>
          <p:nvPr/>
        </p:nvSpPr>
        <p:spPr>
          <a:xfrm>
            <a:off x="3505200" y="9085884"/>
            <a:ext cx="10134600" cy="1451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7030A0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 Groq API  ·  Llama 3.1 8B Instant  ·  Python FastAPI</a:t>
            </a:r>
            <a:endParaRPr lang="en-US" sz="3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B89C-081B-55CC-4AC2-6BB6BA0E8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9EC10ACA-B960-FD4D-B206-AB2501A80F91}"/>
              </a:ext>
            </a:extLst>
          </p:cNvPr>
          <p:cNvSpPr/>
          <p:nvPr/>
        </p:nvSpPr>
        <p:spPr>
          <a:xfrm>
            <a:off x="1028702" y="9444473"/>
            <a:ext cx="415290" cy="415290"/>
          </a:xfrm>
          <a:custGeom>
            <a:avLst/>
            <a:gdLst/>
            <a:ahLst/>
            <a:cxnLst/>
            <a:rect l="l" t="t" r="r" b="b"/>
            <a:pathLst>
              <a:path w="415290" h="415290">
                <a:moveTo>
                  <a:pt x="207607" y="415195"/>
                </a:moveTo>
                <a:lnTo>
                  <a:pt x="159648" y="409672"/>
                </a:lnTo>
                <a:lnTo>
                  <a:pt x="159892" y="409672"/>
                </a:lnTo>
                <a:lnTo>
                  <a:pt x="116212" y="394033"/>
                </a:lnTo>
                <a:lnTo>
                  <a:pt x="79242" y="370532"/>
                </a:lnTo>
                <a:lnTo>
                  <a:pt x="45570" y="337380"/>
                </a:lnTo>
                <a:lnTo>
                  <a:pt x="21082" y="298849"/>
                </a:lnTo>
                <a:lnTo>
                  <a:pt x="5476" y="255170"/>
                </a:lnTo>
                <a:lnTo>
                  <a:pt x="0" y="207585"/>
                </a:lnTo>
                <a:lnTo>
                  <a:pt x="5485" y="159987"/>
                </a:lnTo>
                <a:lnTo>
                  <a:pt x="21102" y="116294"/>
                </a:lnTo>
                <a:lnTo>
                  <a:pt x="45607" y="77751"/>
                </a:lnTo>
                <a:lnTo>
                  <a:pt x="77755" y="45604"/>
                </a:lnTo>
                <a:lnTo>
                  <a:pt x="116302" y="21099"/>
                </a:lnTo>
                <a:lnTo>
                  <a:pt x="160001" y="5482"/>
                </a:lnTo>
                <a:lnTo>
                  <a:pt x="207607" y="0"/>
                </a:lnTo>
                <a:lnTo>
                  <a:pt x="255206" y="5482"/>
                </a:lnTo>
                <a:lnTo>
                  <a:pt x="292757" y="18902"/>
                </a:lnTo>
                <a:lnTo>
                  <a:pt x="207607" y="18902"/>
                </a:lnTo>
                <a:lnTo>
                  <a:pt x="157444" y="25642"/>
                </a:lnTo>
                <a:lnTo>
                  <a:pt x="112367" y="44662"/>
                </a:lnTo>
                <a:lnTo>
                  <a:pt x="74174" y="74164"/>
                </a:lnTo>
                <a:lnTo>
                  <a:pt x="44666" y="112351"/>
                </a:lnTo>
                <a:lnTo>
                  <a:pt x="25641" y="157424"/>
                </a:lnTo>
                <a:lnTo>
                  <a:pt x="18899" y="207585"/>
                </a:lnTo>
                <a:lnTo>
                  <a:pt x="25641" y="257757"/>
                </a:lnTo>
                <a:lnTo>
                  <a:pt x="44666" y="302836"/>
                </a:lnTo>
                <a:lnTo>
                  <a:pt x="74174" y="341027"/>
                </a:lnTo>
                <a:lnTo>
                  <a:pt x="112367" y="370532"/>
                </a:lnTo>
                <a:lnTo>
                  <a:pt x="157444" y="389553"/>
                </a:lnTo>
                <a:lnTo>
                  <a:pt x="207607" y="396293"/>
                </a:lnTo>
                <a:lnTo>
                  <a:pt x="292550" y="396293"/>
                </a:lnTo>
                <a:lnTo>
                  <a:pt x="255184" y="409672"/>
                </a:lnTo>
                <a:lnTo>
                  <a:pt x="207607" y="415195"/>
                </a:lnTo>
                <a:close/>
              </a:path>
              <a:path w="415290" h="415290">
                <a:moveTo>
                  <a:pt x="292550" y="396293"/>
                </a:moveTo>
                <a:lnTo>
                  <a:pt x="207607" y="396293"/>
                </a:lnTo>
                <a:lnTo>
                  <a:pt x="257770" y="389553"/>
                </a:lnTo>
                <a:lnTo>
                  <a:pt x="302847" y="370532"/>
                </a:lnTo>
                <a:lnTo>
                  <a:pt x="341040" y="341027"/>
                </a:lnTo>
                <a:lnTo>
                  <a:pt x="370548" y="302836"/>
                </a:lnTo>
                <a:lnTo>
                  <a:pt x="389573" y="257757"/>
                </a:lnTo>
                <a:lnTo>
                  <a:pt x="396314" y="207585"/>
                </a:lnTo>
                <a:lnTo>
                  <a:pt x="389517" y="157424"/>
                </a:lnTo>
                <a:lnTo>
                  <a:pt x="372131" y="116294"/>
                </a:lnTo>
                <a:lnTo>
                  <a:pt x="343704" y="77751"/>
                </a:lnTo>
                <a:lnTo>
                  <a:pt x="303946" y="45604"/>
                </a:lnTo>
                <a:lnTo>
                  <a:pt x="257655" y="25642"/>
                </a:lnTo>
                <a:lnTo>
                  <a:pt x="257466" y="25642"/>
                </a:lnTo>
                <a:lnTo>
                  <a:pt x="207607" y="18902"/>
                </a:lnTo>
                <a:lnTo>
                  <a:pt x="292757" y="18902"/>
                </a:lnTo>
                <a:lnTo>
                  <a:pt x="298903" y="21099"/>
                </a:lnTo>
                <a:lnTo>
                  <a:pt x="337451" y="45604"/>
                </a:lnTo>
                <a:lnTo>
                  <a:pt x="369604" y="77751"/>
                </a:lnTo>
                <a:lnTo>
                  <a:pt x="394113" y="116294"/>
                </a:lnTo>
                <a:lnTo>
                  <a:pt x="409733" y="159987"/>
                </a:lnTo>
                <a:lnTo>
                  <a:pt x="415217" y="207585"/>
                </a:lnTo>
                <a:lnTo>
                  <a:pt x="409692" y="255170"/>
                </a:lnTo>
                <a:lnTo>
                  <a:pt x="394051" y="298849"/>
                </a:lnTo>
                <a:lnTo>
                  <a:pt x="369536" y="337380"/>
                </a:lnTo>
                <a:lnTo>
                  <a:pt x="337392" y="369522"/>
                </a:lnTo>
                <a:lnTo>
                  <a:pt x="298860" y="394033"/>
                </a:lnTo>
                <a:lnTo>
                  <a:pt x="292550" y="396293"/>
                </a:lnTo>
                <a:close/>
              </a:path>
              <a:path w="415290" h="415290">
                <a:moveTo>
                  <a:pt x="226928" y="329025"/>
                </a:moveTo>
                <a:lnTo>
                  <a:pt x="181000" y="329025"/>
                </a:lnTo>
                <a:lnTo>
                  <a:pt x="287058" y="222402"/>
                </a:lnTo>
                <a:lnTo>
                  <a:pt x="98572" y="222402"/>
                </a:lnTo>
                <a:lnTo>
                  <a:pt x="98572" y="184597"/>
                </a:lnTo>
                <a:lnTo>
                  <a:pt x="281397" y="184597"/>
                </a:lnTo>
                <a:lnTo>
                  <a:pt x="175487" y="78490"/>
                </a:lnTo>
                <a:lnTo>
                  <a:pt x="221243" y="78490"/>
                </a:lnTo>
                <a:lnTo>
                  <a:pt x="349107" y="206355"/>
                </a:lnTo>
                <a:lnTo>
                  <a:pt x="226928" y="329025"/>
                </a:lnTo>
                <a:close/>
              </a:path>
            </a:pathLst>
          </a:custGeom>
          <a:solidFill>
            <a:srgbClr val="2409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27486AD4-AC22-AF8C-EB5A-939A42F914A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830" y="2303913"/>
            <a:ext cx="2414253" cy="2414253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:a16="http://schemas.microsoft.com/office/drawing/2014/main" id="{65867DB6-A97F-346B-50BB-37011DAB1095}"/>
              </a:ext>
            </a:extLst>
          </p:cNvPr>
          <p:cNvGrpSpPr/>
          <p:nvPr/>
        </p:nvGrpSpPr>
        <p:grpSpPr>
          <a:xfrm>
            <a:off x="10744200" y="1124855"/>
            <a:ext cx="7543800" cy="7268527"/>
            <a:chOff x="9473006" y="1496555"/>
            <a:chExt cx="7543800" cy="7268527"/>
          </a:xfrm>
        </p:grpSpPr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22BD966A-1423-634F-8322-D98EF4E76D1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02852" y="2630982"/>
              <a:ext cx="6136418" cy="6134100"/>
            </a:xfrm>
            <a:prstGeom prst="rect">
              <a:avLst/>
            </a:prstGeom>
          </p:spPr>
        </p:pic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B8F8B141-79A4-63B0-62F4-96C1026397DC}"/>
                </a:ext>
              </a:extLst>
            </p:cNvPr>
            <p:cNvSpPr/>
            <p:nvPr/>
          </p:nvSpPr>
          <p:spPr>
            <a:xfrm>
              <a:off x="9885710" y="2713223"/>
              <a:ext cx="5970905" cy="5969000"/>
            </a:xfrm>
            <a:custGeom>
              <a:avLst/>
              <a:gdLst/>
              <a:ahLst/>
              <a:cxnLst/>
              <a:rect l="l" t="t" r="r" b="b"/>
              <a:pathLst>
                <a:path w="5970905" h="5969000">
                  <a:moveTo>
                    <a:pt x="3129993" y="12700"/>
                  </a:moveTo>
                  <a:lnTo>
                    <a:pt x="2840707" y="12700"/>
                  </a:lnTo>
                  <a:lnTo>
                    <a:pt x="2888732" y="0"/>
                  </a:lnTo>
                  <a:lnTo>
                    <a:pt x="3081969" y="0"/>
                  </a:lnTo>
                  <a:lnTo>
                    <a:pt x="3129993" y="12700"/>
                  </a:lnTo>
                  <a:close/>
                </a:path>
                <a:path w="5970905" h="5969000">
                  <a:moveTo>
                    <a:pt x="3320060" y="25400"/>
                  </a:moveTo>
                  <a:lnTo>
                    <a:pt x="2650641" y="25400"/>
                  </a:lnTo>
                  <a:lnTo>
                    <a:pt x="2697841" y="12700"/>
                  </a:lnTo>
                  <a:lnTo>
                    <a:pt x="3272860" y="12700"/>
                  </a:lnTo>
                  <a:lnTo>
                    <a:pt x="3320060" y="25400"/>
                  </a:lnTo>
                  <a:close/>
                </a:path>
                <a:path w="5970905" h="5969000">
                  <a:moveTo>
                    <a:pt x="3413793" y="38100"/>
                  </a:moveTo>
                  <a:lnTo>
                    <a:pt x="2556908" y="38100"/>
                  </a:lnTo>
                  <a:lnTo>
                    <a:pt x="2603661" y="25400"/>
                  </a:lnTo>
                  <a:lnTo>
                    <a:pt x="3367040" y="25400"/>
                  </a:lnTo>
                  <a:lnTo>
                    <a:pt x="3413793" y="38100"/>
                  </a:lnTo>
                  <a:close/>
                </a:path>
                <a:path w="5970905" h="5969000">
                  <a:moveTo>
                    <a:pt x="3552637" y="63500"/>
                  </a:moveTo>
                  <a:lnTo>
                    <a:pt x="2418064" y="63500"/>
                  </a:lnTo>
                  <a:lnTo>
                    <a:pt x="2510387" y="38100"/>
                  </a:lnTo>
                  <a:lnTo>
                    <a:pt x="3460314" y="38100"/>
                  </a:lnTo>
                  <a:lnTo>
                    <a:pt x="3552637" y="63500"/>
                  </a:lnTo>
                  <a:close/>
                </a:path>
                <a:path w="5970905" h="5969000">
                  <a:moveTo>
                    <a:pt x="3598427" y="5918200"/>
                  </a:moveTo>
                  <a:lnTo>
                    <a:pt x="2372274" y="5918200"/>
                  </a:lnTo>
                  <a:lnTo>
                    <a:pt x="1972350" y="5803900"/>
                  </a:lnTo>
                  <a:lnTo>
                    <a:pt x="1929374" y="5778500"/>
                  </a:lnTo>
                  <a:lnTo>
                    <a:pt x="1844368" y="5753100"/>
                  </a:lnTo>
                  <a:lnTo>
                    <a:pt x="1802349" y="5727700"/>
                  </a:lnTo>
                  <a:lnTo>
                    <a:pt x="1760660" y="5715000"/>
                  </a:lnTo>
                  <a:lnTo>
                    <a:pt x="1719309" y="5689600"/>
                  </a:lnTo>
                  <a:lnTo>
                    <a:pt x="1678299" y="5676900"/>
                  </a:lnTo>
                  <a:lnTo>
                    <a:pt x="1637637" y="5651500"/>
                  </a:lnTo>
                  <a:lnTo>
                    <a:pt x="1597330" y="5638800"/>
                  </a:lnTo>
                  <a:lnTo>
                    <a:pt x="1478587" y="5562600"/>
                  </a:lnTo>
                  <a:lnTo>
                    <a:pt x="1439752" y="5549900"/>
                  </a:lnTo>
                  <a:lnTo>
                    <a:pt x="1363237" y="5499100"/>
                  </a:lnTo>
                  <a:lnTo>
                    <a:pt x="1288298" y="5448300"/>
                  </a:lnTo>
                  <a:lnTo>
                    <a:pt x="1214984" y="5397500"/>
                  </a:lnTo>
                  <a:lnTo>
                    <a:pt x="1178950" y="5372100"/>
                  </a:lnTo>
                  <a:lnTo>
                    <a:pt x="1143340" y="5334000"/>
                  </a:lnTo>
                  <a:lnTo>
                    <a:pt x="1073411" y="5283200"/>
                  </a:lnTo>
                  <a:lnTo>
                    <a:pt x="1039106" y="5257800"/>
                  </a:lnTo>
                  <a:lnTo>
                    <a:pt x="1005246" y="5219700"/>
                  </a:lnTo>
                  <a:lnTo>
                    <a:pt x="971839" y="5194300"/>
                  </a:lnTo>
                  <a:lnTo>
                    <a:pt x="938890" y="5168900"/>
                  </a:lnTo>
                  <a:lnTo>
                    <a:pt x="906404" y="5130800"/>
                  </a:lnTo>
                  <a:lnTo>
                    <a:pt x="874389" y="5105400"/>
                  </a:lnTo>
                  <a:lnTo>
                    <a:pt x="842848" y="5067300"/>
                  </a:lnTo>
                  <a:lnTo>
                    <a:pt x="811789" y="5041900"/>
                  </a:lnTo>
                  <a:lnTo>
                    <a:pt x="781217" y="5003800"/>
                  </a:lnTo>
                  <a:lnTo>
                    <a:pt x="751138" y="4965700"/>
                  </a:lnTo>
                  <a:lnTo>
                    <a:pt x="721557" y="4940300"/>
                  </a:lnTo>
                  <a:lnTo>
                    <a:pt x="692481" y="4902200"/>
                  </a:lnTo>
                  <a:lnTo>
                    <a:pt x="663915" y="4864100"/>
                  </a:lnTo>
                  <a:lnTo>
                    <a:pt x="635865" y="4826000"/>
                  </a:lnTo>
                  <a:lnTo>
                    <a:pt x="608336" y="4800600"/>
                  </a:lnTo>
                  <a:lnTo>
                    <a:pt x="581335" y="4762500"/>
                  </a:lnTo>
                  <a:lnTo>
                    <a:pt x="554868" y="4724400"/>
                  </a:lnTo>
                  <a:lnTo>
                    <a:pt x="528940" y="4686300"/>
                  </a:lnTo>
                  <a:lnTo>
                    <a:pt x="503556" y="4648200"/>
                  </a:lnTo>
                  <a:lnTo>
                    <a:pt x="478723" y="4610100"/>
                  </a:lnTo>
                  <a:lnTo>
                    <a:pt x="454447" y="4572000"/>
                  </a:lnTo>
                  <a:lnTo>
                    <a:pt x="430733" y="4533900"/>
                  </a:lnTo>
                  <a:lnTo>
                    <a:pt x="407587" y="4495800"/>
                  </a:lnTo>
                  <a:lnTo>
                    <a:pt x="385016" y="4457700"/>
                  </a:lnTo>
                  <a:lnTo>
                    <a:pt x="363023" y="4419600"/>
                  </a:lnTo>
                  <a:lnTo>
                    <a:pt x="341616" y="4381500"/>
                  </a:lnTo>
                  <a:lnTo>
                    <a:pt x="320801" y="4343400"/>
                  </a:lnTo>
                  <a:lnTo>
                    <a:pt x="300582" y="4292600"/>
                  </a:lnTo>
                  <a:lnTo>
                    <a:pt x="280967" y="4254500"/>
                  </a:lnTo>
                  <a:lnTo>
                    <a:pt x="261960" y="4216400"/>
                  </a:lnTo>
                  <a:lnTo>
                    <a:pt x="243567" y="4178300"/>
                  </a:lnTo>
                  <a:lnTo>
                    <a:pt x="225795" y="4127500"/>
                  </a:lnTo>
                  <a:lnTo>
                    <a:pt x="208649" y="4089400"/>
                  </a:lnTo>
                  <a:lnTo>
                    <a:pt x="192134" y="4051300"/>
                  </a:lnTo>
                  <a:lnTo>
                    <a:pt x="176257" y="4000500"/>
                  </a:lnTo>
                  <a:lnTo>
                    <a:pt x="161024" y="3962400"/>
                  </a:lnTo>
                  <a:lnTo>
                    <a:pt x="146439" y="3911600"/>
                  </a:lnTo>
                  <a:lnTo>
                    <a:pt x="132510" y="3873500"/>
                  </a:lnTo>
                  <a:lnTo>
                    <a:pt x="119241" y="3822700"/>
                  </a:lnTo>
                  <a:lnTo>
                    <a:pt x="106639" y="3784600"/>
                  </a:lnTo>
                  <a:lnTo>
                    <a:pt x="94709" y="3733800"/>
                  </a:lnTo>
                  <a:lnTo>
                    <a:pt x="83458" y="3695700"/>
                  </a:lnTo>
                  <a:lnTo>
                    <a:pt x="72890" y="3644900"/>
                  </a:lnTo>
                  <a:lnTo>
                    <a:pt x="63012" y="3606800"/>
                  </a:lnTo>
                  <a:lnTo>
                    <a:pt x="53830" y="3556000"/>
                  </a:lnTo>
                  <a:lnTo>
                    <a:pt x="45349" y="3505200"/>
                  </a:lnTo>
                  <a:lnTo>
                    <a:pt x="37575" y="3467100"/>
                  </a:lnTo>
                  <a:lnTo>
                    <a:pt x="30514" y="3416300"/>
                  </a:lnTo>
                  <a:lnTo>
                    <a:pt x="24171" y="3365500"/>
                  </a:lnTo>
                  <a:lnTo>
                    <a:pt x="18553" y="3327400"/>
                  </a:lnTo>
                  <a:lnTo>
                    <a:pt x="13666" y="3276600"/>
                  </a:lnTo>
                  <a:lnTo>
                    <a:pt x="9514" y="3225800"/>
                  </a:lnTo>
                  <a:lnTo>
                    <a:pt x="6104" y="3187700"/>
                  </a:lnTo>
                  <a:lnTo>
                    <a:pt x="3442" y="3136900"/>
                  </a:lnTo>
                  <a:lnTo>
                    <a:pt x="1533" y="3086100"/>
                  </a:lnTo>
                  <a:lnTo>
                    <a:pt x="384" y="3035300"/>
                  </a:lnTo>
                  <a:lnTo>
                    <a:pt x="0" y="2984500"/>
                  </a:lnTo>
                  <a:lnTo>
                    <a:pt x="384" y="2946400"/>
                  </a:lnTo>
                  <a:lnTo>
                    <a:pt x="1533" y="2895600"/>
                  </a:lnTo>
                  <a:lnTo>
                    <a:pt x="3442" y="2844800"/>
                  </a:lnTo>
                  <a:lnTo>
                    <a:pt x="6104" y="2794000"/>
                  </a:lnTo>
                  <a:lnTo>
                    <a:pt x="9514" y="2755900"/>
                  </a:lnTo>
                  <a:lnTo>
                    <a:pt x="13666" y="2705100"/>
                  </a:lnTo>
                  <a:lnTo>
                    <a:pt x="18553" y="2654300"/>
                  </a:lnTo>
                  <a:lnTo>
                    <a:pt x="24171" y="2603500"/>
                  </a:lnTo>
                  <a:lnTo>
                    <a:pt x="30514" y="2565400"/>
                  </a:lnTo>
                  <a:lnTo>
                    <a:pt x="37575" y="2514600"/>
                  </a:lnTo>
                  <a:lnTo>
                    <a:pt x="45349" y="2463800"/>
                  </a:lnTo>
                  <a:lnTo>
                    <a:pt x="53830" y="2425700"/>
                  </a:lnTo>
                  <a:lnTo>
                    <a:pt x="63012" y="2374900"/>
                  </a:lnTo>
                  <a:lnTo>
                    <a:pt x="72890" y="2336800"/>
                  </a:lnTo>
                  <a:lnTo>
                    <a:pt x="83458" y="2286000"/>
                  </a:lnTo>
                  <a:lnTo>
                    <a:pt x="94709" y="2235200"/>
                  </a:lnTo>
                  <a:lnTo>
                    <a:pt x="106639" y="2197100"/>
                  </a:lnTo>
                  <a:lnTo>
                    <a:pt x="119241" y="2146300"/>
                  </a:lnTo>
                  <a:lnTo>
                    <a:pt x="132510" y="2108200"/>
                  </a:lnTo>
                  <a:lnTo>
                    <a:pt x="146439" y="2070100"/>
                  </a:lnTo>
                  <a:lnTo>
                    <a:pt x="161024" y="2019300"/>
                  </a:lnTo>
                  <a:lnTo>
                    <a:pt x="176257" y="1981200"/>
                  </a:lnTo>
                  <a:lnTo>
                    <a:pt x="192134" y="1930400"/>
                  </a:lnTo>
                  <a:lnTo>
                    <a:pt x="208649" y="1892300"/>
                  </a:lnTo>
                  <a:lnTo>
                    <a:pt x="225795" y="1854200"/>
                  </a:lnTo>
                  <a:lnTo>
                    <a:pt x="243567" y="1803400"/>
                  </a:lnTo>
                  <a:lnTo>
                    <a:pt x="261960" y="1765300"/>
                  </a:lnTo>
                  <a:lnTo>
                    <a:pt x="280967" y="1727200"/>
                  </a:lnTo>
                  <a:lnTo>
                    <a:pt x="300582" y="1689100"/>
                  </a:lnTo>
                  <a:lnTo>
                    <a:pt x="320801" y="1638300"/>
                  </a:lnTo>
                  <a:lnTo>
                    <a:pt x="341616" y="1600200"/>
                  </a:lnTo>
                  <a:lnTo>
                    <a:pt x="363023" y="1562100"/>
                  </a:lnTo>
                  <a:lnTo>
                    <a:pt x="385016" y="1524000"/>
                  </a:lnTo>
                  <a:lnTo>
                    <a:pt x="407587" y="1485900"/>
                  </a:lnTo>
                  <a:lnTo>
                    <a:pt x="430733" y="1447800"/>
                  </a:lnTo>
                  <a:lnTo>
                    <a:pt x="454447" y="1409700"/>
                  </a:lnTo>
                  <a:lnTo>
                    <a:pt x="478723" y="1371600"/>
                  </a:lnTo>
                  <a:lnTo>
                    <a:pt x="503556" y="1333500"/>
                  </a:lnTo>
                  <a:lnTo>
                    <a:pt x="528940" y="1295400"/>
                  </a:lnTo>
                  <a:lnTo>
                    <a:pt x="554868" y="1257300"/>
                  </a:lnTo>
                  <a:lnTo>
                    <a:pt x="581335" y="1219200"/>
                  </a:lnTo>
                  <a:lnTo>
                    <a:pt x="608336" y="1181100"/>
                  </a:lnTo>
                  <a:lnTo>
                    <a:pt x="635865" y="1143000"/>
                  </a:lnTo>
                  <a:lnTo>
                    <a:pt x="663915" y="1117600"/>
                  </a:lnTo>
                  <a:lnTo>
                    <a:pt x="692481" y="1079500"/>
                  </a:lnTo>
                  <a:lnTo>
                    <a:pt x="721557" y="1041400"/>
                  </a:lnTo>
                  <a:lnTo>
                    <a:pt x="751138" y="1016000"/>
                  </a:lnTo>
                  <a:lnTo>
                    <a:pt x="781217" y="977900"/>
                  </a:lnTo>
                  <a:lnTo>
                    <a:pt x="811789" y="939800"/>
                  </a:lnTo>
                  <a:lnTo>
                    <a:pt x="842848" y="914400"/>
                  </a:lnTo>
                  <a:lnTo>
                    <a:pt x="874389" y="876300"/>
                  </a:lnTo>
                  <a:lnTo>
                    <a:pt x="906404" y="850900"/>
                  </a:lnTo>
                  <a:lnTo>
                    <a:pt x="938890" y="812800"/>
                  </a:lnTo>
                  <a:lnTo>
                    <a:pt x="971839" y="787400"/>
                  </a:lnTo>
                  <a:lnTo>
                    <a:pt x="1005246" y="762000"/>
                  </a:lnTo>
                  <a:lnTo>
                    <a:pt x="1039106" y="723900"/>
                  </a:lnTo>
                  <a:lnTo>
                    <a:pt x="1108158" y="673100"/>
                  </a:lnTo>
                  <a:lnTo>
                    <a:pt x="1143340" y="635000"/>
                  </a:lnTo>
                  <a:lnTo>
                    <a:pt x="1214984" y="584200"/>
                  </a:lnTo>
                  <a:lnTo>
                    <a:pt x="1288298" y="533400"/>
                  </a:lnTo>
                  <a:lnTo>
                    <a:pt x="1363237" y="482600"/>
                  </a:lnTo>
                  <a:lnTo>
                    <a:pt x="1478587" y="406400"/>
                  </a:lnTo>
                  <a:lnTo>
                    <a:pt x="1517798" y="393700"/>
                  </a:lnTo>
                  <a:lnTo>
                    <a:pt x="1597330" y="342900"/>
                  </a:lnTo>
                  <a:lnTo>
                    <a:pt x="1637637" y="330200"/>
                  </a:lnTo>
                  <a:lnTo>
                    <a:pt x="1719309" y="279400"/>
                  </a:lnTo>
                  <a:lnTo>
                    <a:pt x="1802349" y="254000"/>
                  </a:lnTo>
                  <a:lnTo>
                    <a:pt x="1844368" y="228600"/>
                  </a:lnTo>
                  <a:lnTo>
                    <a:pt x="1886711" y="215900"/>
                  </a:lnTo>
                  <a:lnTo>
                    <a:pt x="1929374" y="190500"/>
                  </a:lnTo>
                  <a:lnTo>
                    <a:pt x="2372274" y="63500"/>
                  </a:lnTo>
                  <a:lnTo>
                    <a:pt x="3598427" y="63500"/>
                  </a:lnTo>
                  <a:lnTo>
                    <a:pt x="4041327" y="190500"/>
                  </a:lnTo>
                  <a:lnTo>
                    <a:pt x="4083990" y="215900"/>
                  </a:lnTo>
                  <a:lnTo>
                    <a:pt x="4126333" y="228600"/>
                  </a:lnTo>
                  <a:lnTo>
                    <a:pt x="4168352" y="254000"/>
                  </a:lnTo>
                  <a:lnTo>
                    <a:pt x="4251392" y="279400"/>
                  </a:lnTo>
                  <a:lnTo>
                    <a:pt x="4333064" y="330200"/>
                  </a:lnTo>
                  <a:lnTo>
                    <a:pt x="4373371" y="342900"/>
                  </a:lnTo>
                  <a:lnTo>
                    <a:pt x="4452903" y="393700"/>
                  </a:lnTo>
                  <a:lnTo>
                    <a:pt x="4492114" y="406400"/>
                  </a:lnTo>
                  <a:lnTo>
                    <a:pt x="4607465" y="482600"/>
                  </a:lnTo>
                  <a:lnTo>
                    <a:pt x="4682403" y="533400"/>
                  </a:lnTo>
                  <a:lnTo>
                    <a:pt x="4755717" y="584200"/>
                  </a:lnTo>
                  <a:lnTo>
                    <a:pt x="4827362" y="635000"/>
                  </a:lnTo>
                  <a:lnTo>
                    <a:pt x="4862543" y="673100"/>
                  </a:lnTo>
                  <a:lnTo>
                    <a:pt x="4931596" y="723900"/>
                  </a:lnTo>
                  <a:lnTo>
                    <a:pt x="4965455" y="762000"/>
                  </a:lnTo>
                  <a:lnTo>
                    <a:pt x="4998862" y="787400"/>
                  </a:lnTo>
                  <a:lnTo>
                    <a:pt x="5031811" y="812800"/>
                  </a:lnTo>
                  <a:lnTo>
                    <a:pt x="5064297" y="850900"/>
                  </a:lnTo>
                  <a:lnTo>
                    <a:pt x="5096312" y="876300"/>
                  </a:lnTo>
                  <a:lnTo>
                    <a:pt x="5127853" y="914400"/>
                  </a:lnTo>
                  <a:lnTo>
                    <a:pt x="5158912" y="939800"/>
                  </a:lnTo>
                  <a:lnTo>
                    <a:pt x="5189484" y="977900"/>
                  </a:lnTo>
                  <a:lnTo>
                    <a:pt x="5219563" y="1016000"/>
                  </a:lnTo>
                  <a:lnTo>
                    <a:pt x="5249144" y="1041400"/>
                  </a:lnTo>
                  <a:lnTo>
                    <a:pt x="5278220" y="1079500"/>
                  </a:lnTo>
                  <a:lnTo>
                    <a:pt x="5306786" y="1117600"/>
                  </a:lnTo>
                  <a:lnTo>
                    <a:pt x="5334836" y="1143000"/>
                  </a:lnTo>
                  <a:lnTo>
                    <a:pt x="5362365" y="1181100"/>
                  </a:lnTo>
                  <a:lnTo>
                    <a:pt x="5389366" y="1219200"/>
                  </a:lnTo>
                  <a:lnTo>
                    <a:pt x="5415833" y="1257300"/>
                  </a:lnTo>
                  <a:lnTo>
                    <a:pt x="5441761" y="1295400"/>
                  </a:lnTo>
                  <a:lnTo>
                    <a:pt x="5467145" y="1333500"/>
                  </a:lnTo>
                  <a:lnTo>
                    <a:pt x="5491978" y="1371600"/>
                  </a:lnTo>
                  <a:lnTo>
                    <a:pt x="5516254" y="1409700"/>
                  </a:lnTo>
                  <a:lnTo>
                    <a:pt x="5539968" y="1447800"/>
                  </a:lnTo>
                  <a:lnTo>
                    <a:pt x="5563113" y="1485900"/>
                  </a:lnTo>
                  <a:lnTo>
                    <a:pt x="5585685" y="1524000"/>
                  </a:lnTo>
                  <a:lnTo>
                    <a:pt x="5607678" y="1562100"/>
                  </a:lnTo>
                  <a:lnTo>
                    <a:pt x="5629084" y="1600200"/>
                  </a:lnTo>
                  <a:lnTo>
                    <a:pt x="5649900" y="1638300"/>
                  </a:lnTo>
                  <a:lnTo>
                    <a:pt x="5670118" y="1689100"/>
                  </a:lnTo>
                  <a:lnTo>
                    <a:pt x="5689734" y="1727200"/>
                  </a:lnTo>
                  <a:lnTo>
                    <a:pt x="5708741" y="1765300"/>
                  </a:lnTo>
                  <a:lnTo>
                    <a:pt x="5727134" y="1803400"/>
                  </a:lnTo>
                  <a:lnTo>
                    <a:pt x="5744906" y="1854200"/>
                  </a:lnTo>
                  <a:lnTo>
                    <a:pt x="5762052" y="1892300"/>
                  </a:lnTo>
                  <a:lnTo>
                    <a:pt x="5778567" y="1930400"/>
                  </a:lnTo>
                  <a:lnTo>
                    <a:pt x="5794444" y="1981200"/>
                  </a:lnTo>
                  <a:lnTo>
                    <a:pt x="5809677" y="2019300"/>
                  </a:lnTo>
                  <a:lnTo>
                    <a:pt x="5824262" y="2070100"/>
                  </a:lnTo>
                  <a:lnTo>
                    <a:pt x="5838191" y="2108200"/>
                  </a:lnTo>
                  <a:lnTo>
                    <a:pt x="5851460" y="2146300"/>
                  </a:lnTo>
                  <a:lnTo>
                    <a:pt x="5864062" y="2197100"/>
                  </a:lnTo>
                  <a:lnTo>
                    <a:pt x="5875991" y="2235200"/>
                  </a:lnTo>
                  <a:lnTo>
                    <a:pt x="5887243" y="2286000"/>
                  </a:lnTo>
                  <a:lnTo>
                    <a:pt x="5897811" y="2336800"/>
                  </a:lnTo>
                  <a:lnTo>
                    <a:pt x="5907689" y="2374900"/>
                  </a:lnTo>
                  <a:lnTo>
                    <a:pt x="5916871" y="2425700"/>
                  </a:lnTo>
                  <a:lnTo>
                    <a:pt x="5925352" y="2463800"/>
                  </a:lnTo>
                  <a:lnTo>
                    <a:pt x="5933126" y="2514600"/>
                  </a:lnTo>
                  <a:lnTo>
                    <a:pt x="5940187" y="2565400"/>
                  </a:lnTo>
                  <a:lnTo>
                    <a:pt x="5946530" y="2603500"/>
                  </a:lnTo>
                  <a:lnTo>
                    <a:pt x="5952148" y="2654300"/>
                  </a:lnTo>
                  <a:lnTo>
                    <a:pt x="5957035" y="2705100"/>
                  </a:lnTo>
                  <a:lnTo>
                    <a:pt x="5961187" y="2755900"/>
                  </a:lnTo>
                  <a:lnTo>
                    <a:pt x="5964597" y="2794000"/>
                  </a:lnTo>
                  <a:lnTo>
                    <a:pt x="5967259" y="2844800"/>
                  </a:lnTo>
                  <a:lnTo>
                    <a:pt x="5969167" y="2895600"/>
                  </a:lnTo>
                  <a:lnTo>
                    <a:pt x="5970317" y="2946400"/>
                  </a:lnTo>
                  <a:lnTo>
                    <a:pt x="5970701" y="2984500"/>
                  </a:lnTo>
                  <a:lnTo>
                    <a:pt x="5970317" y="3035300"/>
                  </a:lnTo>
                  <a:lnTo>
                    <a:pt x="5969167" y="3086100"/>
                  </a:lnTo>
                  <a:lnTo>
                    <a:pt x="5967259" y="3136900"/>
                  </a:lnTo>
                  <a:lnTo>
                    <a:pt x="5964597" y="3187700"/>
                  </a:lnTo>
                  <a:lnTo>
                    <a:pt x="5961187" y="3225800"/>
                  </a:lnTo>
                  <a:lnTo>
                    <a:pt x="5957035" y="3276600"/>
                  </a:lnTo>
                  <a:lnTo>
                    <a:pt x="5952148" y="3327400"/>
                  </a:lnTo>
                  <a:lnTo>
                    <a:pt x="5946530" y="3365500"/>
                  </a:lnTo>
                  <a:lnTo>
                    <a:pt x="5940187" y="3416300"/>
                  </a:lnTo>
                  <a:lnTo>
                    <a:pt x="5933126" y="3467100"/>
                  </a:lnTo>
                  <a:lnTo>
                    <a:pt x="5925352" y="3505200"/>
                  </a:lnTo>
                  <a:lnTo>
                    <a:pt x="5916871" y="3556000"/>
                  </a:lnTo>
                  <a:lnTo>
                    <a:pt x="5907689" y="3606800"/>
                  </a:lnTo>
                  <a:lnTo>
                    <a:pt x="5897811" y="3644900"/>
                  </a:lnTo>
                  <a:lnTo>
                    <a:pt x="5887243" y="3695700"/>
                  </a:lnTo>
                  <a:lnTo>
                    <a:pt x="5875991" y="3733800"/>
                  </a:lnTo>
                  <a:lnTo>
                    <a:pt x="5864062" y="3784600"/>
                  </a:lnTo>
                  <a:lnTo>
                    <a:pt x="5851460" y="3822700"/>
                  </a:lnTo>
                  <a:lnTo>
                    <a:pt x="5838191" y="3873500"/>
                  </a:lnTo>
                  <a:lnTo>
                    <a:pt x="5824262" y="3911600"/>
                  </a:lnTo>
                  <a:lnTo>
                    <a:pt x="5809677" y="3962400"/>
                  </a:lnTo>
                  <a:lnTo>
                    <a:pt x="5794444" y="4000500"/>
                  </a:lnTo>
                  <a:lnTo>
                    <a:pt x="5778567" y="4051300"/>
                  </a:lnTo>
                  <a:lnTo>
                    <a:pt x="5762052" y="4089400"/>
                  </a:lnTo>
                  <a:lnTo>
                    <a:pt x="5744906" y="4127500"/>
                  </a:lnTo>
                  <a:lnTo>
                    <a:pt x="5727134" y="4178300"/>
                  </a:lnTo>
                  <a:lnTo>
                    <a:pt x="5708741" y="4216400"/>
                  </a:lnTo>
                  <a:lnTo>
                    <a:pt x="5689734" y="4254500"/>
                  </a:lnTo>
                  <a:lnTo>
                    <a:pt x="5670118" y="4292600"/>
                  </a:lnTo>
                  <a:lnTo>
                    <a:pt x="5649900" y="4343400"/>
                  </a:lnTo>
                  <a:lnTo>
                    <a:pt x="5629084" y="4381500"/>
                  </a:lnTo>
                  <a:lnTo>
                    <a:pt x="5607678" y="4419600"/>
                  </a:lnTo>
                  <a:lnTo>
                    <a:pt x="5585685" y="4457700"/>
                  </a:lnTo>
                  <a:lnTo>
                    <a:pt x="5563113" y="4495800"/>
                  </a:lnTo>
                  <a:lnTo>
                    <a:pt x="5539968" y="4533900"/>
                  </a:lnTo>
                  <a:lnTo>
                    <a:pt x="5516254" y="4572000"/>
                  </a:lnTo>
                  <a:lnTo>
                    <a:pt x="5491978" y="4610100"/>
                  </a:lnTo>
                  <a:lnTo>
                    <a:pt x="5467145" y="4648200"/>
                  </a:lnTo>
                  <a:lnTo>
                    <a:pt x="5441761" y="4686300"/>
                  </a:lnTo>
                  <a:lnTo>
                    <a:pt x="5415833" y="4724400"/>
                  </a:lnTo>
                  <a:lnTo>
                    <a:pt x="5389366" y="4762500"/>
                  </a:lnTo>
                  <a:lnTo>
                    <a:pt x="5362365" y="4800600"/>
                  </a:lnTo>
                  <a:lnTo>
                    <a:pt x="5334836" y="4826000"/>
                  </a:lnTo>
                  <a:lnTo>
                    <a:pt x="5306786" y="4864100"/>
                  </a:lnTo>
                  <a:lnTo>
                    <a:pt x="5278220" y="4902200"/>
                  </a:lnTo>
                  <a:lnTo>
                    <a:pt x="5249144" y="4940300"/>
                  </a:lnTo>
                  <a:lnTo>
                    <a:pt x="5219563" y="4965700"/>
                  </a:lnTo>
                  <a:lnTo>
                    <a:pt x="5189484" y="5003800"/>
                  </a:lnTo>
                  <a:lnTo>
                    <a:pt x="5158912" y="5041900"/>
                  </a:lnTo>
                  <a:lnTo>
                    <a:pt x="5127853" y="5067300"/>
                  </a:lnTo>
                  <a:lnTo>
                    <a:pt x="5096312" y="5105400"/>
                  </a:lnTo>
                  <a:lnTo>
                    <a:pt x="5064297" y="5130800"/>
                  </a:lnTo>
                  <a:lnTo>
                    <a:pt x="5031811" y="5168900"/>
                  </a:lnTo>
                  <a:lnTo>
                    <a:pt x="4998862" y="5194300"/>
                  </a:lnTo>
                  <a:lnTo>
                    <a:pt x="4965455" y="5219700"/>
                  </a:lnTo>
                  <a:lnTo>
                    <a:pt x="4931596" y="5257800"/>
                  </a:lnTo>
                  <a:lnTo>
                    <a:pt x="4897290" y="5283200"/>
                  </a:lnTo>
                  <a:lnTo>
                    <a:pt x="4827362" y="5334000"/>
                  </a:lnTo>
                  <a:lnTo>
                    <a:pt x="4791751" y="5372100"/>
                  </a:lnTo>
                  <a:lnTo>
                    <a:pt x="4755717" y="5397500"/>
                  </a:lnTo>
                  <a:lnTo>
                    <a:pt x="4682403" y="5448300"/>
                  </a:lnTo>
                  <a:lnTo>
                    <a:pt x="4607465" y="5499100"/>
                  </a:lnTo>
                  <a:lnTo>
                    <a:pt x="4530949" y="5549900"/>
                  </a:lnTo>
                  <a:lnTo>
                    <a:pt x="4492114" y="5562600"/>
                  </a:lnTo>
                  <a:lnTo>
                    <a:pt x="4373371" y="5638800"/>
                  </a:lnTo>
                  <a:lnTo>
                    <a:pt x="4333064" y="5651500"/>
                  </a:lnTo>
                  <a:lnTo>
                    <a:pt x="4292402" y="5676900"/>
                  </a:lnTo>
                  <a:lnTo>
                    <a:pt x="4251392" y="5689600"/>
                  </a:lnTo>
                  <a:lnTo>
                    <a:pt x="4210041" y="5715000"/>
                  </a:lnTo>
                  <a:lnTo>
                    <a:pt x="4168352" y="5727700"/>
                  </a:lnTo>
                  <a:lnTo>
                    <a:pt x="4126333" y="5753100"/>
                  </a:lnTo>
                  <a:lnTo>
                    <a:pt x="4041327" y="5778500"/>
                  </a:lnTo>
                  <a:lnTo>
                    <a:pt x="3998351" y="5803900"/>
                  </a:lnTo>
                  <a:lnTo>
                    <a:pt x="3598427" y="5918200"/>
                  </a:lnTo>
                  <a:close/>
                </a:path>
                <a:path w="5970905" h="5969000">
                  <a:moveTo>
                    <a:pt x="3460314" y="5943600"/>
                  </a:moveTo>
                  <a:lnTo>
                    <a:pt x="2510387" y="5943600"/>
                  </a:lnTo>
                  <a:lnTo>
                    <a:pt x="2418064" y="5918200"/>
                  </a:lnTo>
                  <a:lnTo>
                    <a:pt x="3552637" y="5918200"/>
                  </a:lnTo>
                  <a:lnTo>
                    <a:pt x="3460314" y="5943600"/>
                  </a:lnTo>
                  <a:close/>
                </a:path>
                <a:path w="5970905" h="5969000">
                  <a:moveTo>
                    <a:pt x="3367040" y="5956300"/>
                  </a:moveTo>
                  <a:lnTo>
                    <a:pt x="2603661" y="5956300"/>
                  </a:lnTo>
                  <a:lnTo>
                    <a:pt x="2556908" y="5943600"/>
                  </a:lnTo>
                  <a:lnTo>
                    <a:pt x="3413793" y="5943600"/>
                  </a:lnTo>
                  <a:lnTo>
                    <a:pt x="3367040" y="5956300"/>
                  </a:lnTo>
                  <a:close/>
                </a:path>
                <a:path w="5970905" h="5969000">
                  <a:moveTo>
                    <a:pt x="3225445" y="5969000"/>
                  </a:moveTo>
                  <a:lnTo>
                    <a:pt x="2745256" y="5969000"/>
                  </a:lnTo>
                  <a:lnTo>
                    <a:pt x="2697841" y="5956300"/>
                  </a:lnTo>
                  <a:lnTo>
                    <a:pt x="3272860" y="5956300"/>
                  </a:lnTo>
                  <a:lnTo>
                    <a:pt x="3225445" y="596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35638120-60D9-1E58-7C76-8DA561A5B8D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63052" y="6873043"/>
              <a:ext cx="1892037" cy="1892037"/>
            </a:xfrm>
            <a:prstGeom prst="rect">
              <a:avLst/>
            </a:prstGeom>
          </p:spPr>
        </p:pic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272D06DF-1A3C-D5C3-606F-4B19B3AD447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61736" y="3674458"/>
              <a:ext cx="2155070" cy="2155070"/>
            </a:xfrm>
            <a:prstGeom prst="rect">
              <a:avLst/>
            </a:prstGeom>
          </p:spPr>
        </p:pic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17FEED3A-1D28-BFEB-DB41-80327DA993A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73006" y="1496555"/>
              <a:ext cx="3185720" cy="3185720"/>
            </a:xfrm>
            <a:prstGeom prst="rect">
              <a:avLst/>
            </a:prstGeom>
          </p:spPr>
        </p:pic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A71692A4-1811-B51F-2760-7CE6AE29774A}"/>
              </a:ext>
            </a:extLst>
          </p:cNvPr>
          <p:cNvSpPr txBox="1"/>
          <p:nvPr/>
        </p:nvSpPr>
        <p:spPr>
          <a:xfrm>
            <a:off x="16037565" y="9436858"/>
            <a:ext cx="1090243" cy="28789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spc="90" dirty="0">
                <a:solidFill>
                  <a:srgbClr val="240960"/>
                </a:solidFill>
                <a:latin typeface="Tahoma"/>
                <a:cs typeface="Tahoma"/>
              </a:rPr>
              <a:t>Page</a:t>
            </a:r>
            <a:r>
              <a:rPr sz="1800" b="1" spc="295" dirty="0">
                <a:solidFill>
                  <a:srgbClr val="240960"/>
                </a:solidFill>
                <a:latin typeface="Tahoma"/>
                <a:cs typeface="Tahoma"/>
              </a:rPr>
              <a:t> </a:t>
            </a:r>
            <a:r>
              <a:rPr lang="en-US" b="1" spc="-35" dirty="0">
                <a:solidFill>
                  <a:srgbClr val="240960"/>
                </a:solidFill>
                <a:latin typeface="Verdana"/>
                <a:cs typeface="Tahoma"/>
              </a:rPr>
              <a:t>10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113EBB-FFBA-7A0C-855E-1963B724AFF4}"/>
              </a:ext>
            </a:extLst>
          </p:cNvPr>
          <p:cNvSpPr/>
          <p:nvPr/>
        </p:nvSpPr>
        <p:spPr>
          <a:xfrm>
            <a:off x="3512309" y="111637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D70467-E75D-FA4D-7CC8-F59A5C4EA2ED}"/>
              </a:ext>
            </a:extLst>
          </p:cNvPr>
          <p:cNvSpPr/>
          <p:nvPr/>
        </p:nvSpPr>
        <p:spPr>
          <a:xfrm>
            <a:off x="3055109" y="1235250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TECHNOLOGY STACK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F2E2166-B982-AF44-BEB6-9DE31C962248}"/>
              </a:ext>
            </a:extLst>
          </p:cNvPr>
          <p:cNvSpPr/>
          <p:nvPr/>
        </p:nvSpPr>
        <p:spPr>
          <a:xfrm>
            <a:off x="4426709" y="1921050"/>
            <a:ext cx="6400800" cy="0"/>
          </a:xfrm>
          <a:prstGeom prst="line">
            <a:avLst/>
          </a:prstGeom>
          <a:noFill/>
          <a:ln w="7620">
            <a:solidFill>
              <a:schemeClr val="bg1"/>
            </a:solidFill>
            <a:prstDash val="solid"/>
          </a:ln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04FCF991-6081-9CF1-8893-A72526E8BEE1}"/>
              </a:ext>
            </a:extLst>
          </p:cNvPr>
          <p:cNvSpPr/>
          <p:nvPr/>
        </p:nvSpPr>
        <p:spPr>
          <a:xfrm>
            <a:off x="613145" y="3135839"/>
            <a:ext cx="2854862" cy="4069888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9CBD46CC-DA35-38CB-18C3-FC493F1F2B0D}"/>
              </a:ext>
            </a:extLst>
          </p:cNvPr>
          <p:cNvSpPr/>
          <p:nvPr/>
        </p:nvSpPr>
        <p:spPr>
          <a:xfrm>
            <a:off x="716409" y="3366095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1F017545-1D2F-AC8E-523E-404F93F89527}"/>
              </a:ext>
            </a:extLst>
          </p:cNvPr>
          <p:cNvSpPr/>
          <p:nvPr/>
        </p:nvSpPr>
        <p:spPr>
          <a:xfrm>
            <a:off x="799541" y="4270377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React 18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6C6F850-DB32-14BD-7BB2-F1BFC2D87431}"/>
              </a:ext>
            </a:extLst>
          </p:cNvPr>
          <p:cNvSpPr/>
          <p:nvPr/>
        </p:nvSpPr>
        <p:spPr>
          <a:xfrm>
            <a:off x="888432" y="485743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Material UI v5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55A93557-961A-9775-64B0-2050E2FD4696}"/>
              </a:ext>
            </a:extLst>
          </p:cNvPr>
          <p:cNvSpPr/>
          <p:nvPr/>
        </p:nvSpPr>
        <p:spPr>
          <a:xfrm>
            <a:off x="753940" y="5380742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Recharts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BA6D27CF-A712-0DF6-947E-4AFD6D91C6AA}"/>
              </a:ext>
            </a:extLst>
          </p:cNvPr>
          <p:cNvSpPr/>
          <p:nvPr/>
        </p:nvSpPr>
        <p:spPr>
          <a:xfrm>
            <a:off x="725814" y="5828839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Axios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3C8D4918-4C35-A752-A200-FD1A2D66AD59}"/>
              </a:ext>
            </a:extLst>
          </p:cNvPr>
          <p:cNvSpPr/>
          <p:nvPr/>
        </p:nvSpPr>
        <p:spPr>
          <a:xfrm>
            <a:off x="787970" y="632029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React Router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E0C68E3A-31DD-00F9-C502-F3E82539DCEE}"/>
              </a:ext>
            </a:extLst>
          </p:cNvPr>
          <p:cNvSpPr/>
          <p:nvPr/>
        </p:nvSpPr>
        <p:spPr>
          <a:xfrm>
            <a:off x="3494021" y="539577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BF53E29B-58B7-C6A2-A5F2-FC813F6228C6}"/>
              </a:ext>
            </a:extLst>
          </p:cNvPr>
          <p:cNvSpPr/>
          <p:nvPr/>
        </p:nvSpPr>
        <p:spPr>
          <a:xfrm>
            <a:off x="4974490" y="3126711"/>
            <a:ext cx="2948922" cy="4069888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C6877F70-9134-59F7-DE78-84ED14A6F983}"/>
              </a:ext>
            </a:extLst>
          </p:cNvPr>
          <p:cNvSpPr/>
          <p:nvPr/>
        </p:nvSpPr>
        <p:spPr>
          <a:xfrm>
            <a:off x="6292085" y="2158794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6B4F9A83-092E-53B0-5DD9-C987EBB540B7}"/>
              </a:ext>
            </a:extLst>
          </p:cNvPr>
          <p:cNvSpPr/>
          <p:nvPr/>
        </p:nvSpPr>
        <p:spPr>
          <a:xfrm>
            <a:off x="5045075" y="3432144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008EB0F2-2796-A0A5-C327-BB6ECEC0A94D}"/>
              </a:ext>
            </a:extLst>
          </p:cNvPr>
          <p:cNvSpPr/>
          <p:nvPr/>
        </p:nvSpPr>
        <p:spPr>
          <a:xfrm>
            <a:off x="5253957" y="4074658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Spring Boot 3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EE06816D-9639-CF14-6C09-3F74E97F033D}"/>
              </a:ext>
            </a:extLst>
          </p:cNvPr>
          <p:cNvSpPr/>
          <p:nvPr/>
        </p:nvSpPr>
        <p:spPr>
          <a:xfrm>
            <a:off x="5246237" y="4594835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Java 17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2130E032-AE56-D70A-958C-C746F335D035}"/>
              </a:ext>
            </a:extLst>
          </p:cNvPr>
          <p:cNvSpPr/>
          <p:nvPr/>
        </p:nvSpPr>
        <p:spPr>
          <a:xfrm>
            <a:off x="5067625" y="5013478"/>
            <a:ext cx="2521013" cy="7943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Spring Data JPA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2E81ACB0-A3CF-13D4-818B-AE6476D08D21}"/>
              </a:ext>
            </a:extLst>
          </p:cNvPr>
          <p:cNvSpPr/>
          <p:nvPr/>
        </p:nvSpPr>
        <p:spPr>
          <a:xfrm>
            <a:off x="5151680" y="5625182"/>
            <a:ext cx="2646570" cy="73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Spring Security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24115F71-2467-953E-AE43-3C0E659981FD}"/>
              </a:ext>
            </a:extLst>
          </p:cNvPr>
          <p:cNvSpPr/>
          <p:nvPr/>
        </p:nvSpPr>
        <p:spPr>
          <a:xfrm>
            <a:off x="5254946" y="6299071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JWT Auth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798F529D-11DE-769C-A449-EBFA8A9E707B}"/>
              </a:ext>
            </a:extLst>
          </p:cNvPr>
          <p:cNvSpPr/>
          <p:nvPr/>
        </p:nvSpPr>
        <p:spPr>
          <a:xfrm>
            <a:off x="6474965" y="539577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26">
            <a:extLst>
              <a:ext uri="{FF2B5EF4-FFF2-40B4-BE49-F238E27FC236}">
                <a16:creationId xmlns:a16="http://schemas.microsoft.com/office/drawing/2014/main" id="{1420A2DC-F598-2704-1258-2F54394C2720}"/>
              </a:ext>
            </a:extLst>
          </p:cNvPr>
          <p:cNvSpPr/>
          <p:nvPr/>
        </p:nvSpPr>
        <p:spPr>
          <a:xfrm>
            <a:off x="9351890" y="3111147"/>
            <a:ext cx="3118947" cy="4069888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84216A4E-FEA8-DD39-E9AB-12831F3F16BA}"/>
              </a:ext>
            </a:extLst>
          </p:cNvPr>
          <p:cNvSpPr/>
          <p:nvPr/>
        </p:nvSpPr>
        <p:spPr>
          <a:xfrm>
            <a:off x="9273029" y="2158794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749E8D11-1F5D-E56A-EBB8-50F9999109CE}"/>
              </a:ext>
            </a:extLst>
          </p:cNvPr>
          <p:cNvSpPr/>
          <p:nvPr/>
        </p:nvSpPr>
        <p:spPr>
          <a:xfrm>
            <a:off x="9529061" y="3377344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1B44F505-9981-930C-AFBB-63A0C90D3559}"/>
              </a:ext>
            </a:extLst>
          </p:cNvPr>
          <p:cNvSpPr/>
          <p:nvPr/>
        </p:nvSpPr>
        <p:spPr>
          <a:xfrm>
            <a:off x="9657159" y="4181131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MySQL 8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32">
            <a:extLst>
              <a:ext uri="{FF2B5EF4-FFF2-40B4-BE49-F238E27FC236}">
                <a16:creationId xmlns:a16="http://schemas.microsoft.com/office/drawing/2014/main" id="{08C51E91-5710-6E4C-3902-69F13DFE6B4D}"/>
              </a:ext>
            </a:extLst>
          </p:cNvPr>
          <p:cNvSpPr/>
          <p:nvPr/>
        </p:nvSpPr>
        <p:spPr>
          <a:xfrm>
            <a:off x="9729258" y="4784929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Hibernate ORM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33">
            <a:extLst>
              <a:ext uri="{FF2B5EF4-FFF2-40B4-BE49-F238E27FC236}">
                <a16:creationId xmlns:a16="http://schemas.microsoft.com/office/drawing/2014/main" id="{33ACE6B1-51B6-9A67-AD05-B9D79BF960E9}"/>
              </a:ext>
            </a:extLst>
          </p:cNvPr>
          <p:cNvSpPr/>
          <p:nvPr/>
        </p:nvSpPr>
        <p:spPr>
          <a:xfrm>
            <a:off x="9666040" y="5328467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Auto DDL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34">
            <a:extLst>
              <a:ext uri="{FF2B5EF4-FFF2-40B4-BE49-F238E27FC236}">
                <a16:creationId xmlns:a16="http://schemas.microsoft.com/office/drawing/2014/main" id="{BADFF70D-AEA2-182A-C7B3-FC7D94109F51}"/>
              </a:ext>
            </a:extLst>
          </p:cNvPr>
          <p:cNvSpPr/>
          <p:nvPr/>
        </p:nvSpPr>
        <p:spPr>
          <a:xfrm>
            <a:off x="9624462" y="5795374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11 Tables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35">
            <a:extLst>
              <a:ext uri="{FF2B5EF4-FFF2-40B4-BE49-F238E27FC236}">
                <a16:creationId xmlns:a16="http://schemas.microsoft.com/office/drawing/2014/main" id="{03B2E246-2976-477E-834B-8AB9EF283214}"/>
              </a:ext>
            </a:extLst>
          </p:cNvPr>
          <p:cNvSpPr/>
          <p:nvPr/>
        </p:nvSpPr>
        <p:spPr>
          <a:xfrm>
            <a:off x="9692704" y="6304936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Shared DB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37">
            <a:extLst>
              <a:ext uri="{FF2B5EF4-FFF2-40B4-BE49-F238E27FC236}">
                <a16:creationId xmlns:a16="http://schemas.microsoft.com/office/drawing/2014/main" id="{6D4F790E-4E44-06BE-A767-73442EDAF4B4}"/>
              </a:ext>
            </a:extLst>
          </p:cNvPr>
          <p:cNvSpPr/>
          <p:nvPr/>
        </p:nvSpPr>
        <p:spPr>
          <a:xfrm>
            <a:off x="236830" y="8752609"/>
            <a:ext cx="17678400" cy="746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SERVICE 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—  Python  ·  FastAPI  ·  Groq API  ·  Llama 3.1 8B Instant  ·  mysql-connector-python  ·  python-dotenv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40292B27-2069-0562-F61A-2E4FF0C81009}"/>
              </a:ext>
            </a:extLst>
          </p:cNvPr>
          <p:cNvSpPr/>
          <p:nvPr/>
        </p:nvSpPr>
        <p:spPr>
          <a:xfrm>
            <a:off x="14046768" y="3111147"/>
            <a:ext cx="3081041" cy="4069888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281280-B6C9-4393-5E76-CAED94605324}"/>
              </a:ext>
            </a:extLst>
          </p:cNvPr>
          <p:cNvSpPr txBox="1"/>
          <p:nvPr/>
        </p:nvSpPr>
        <p:spPr>
          <a:xfrm>
            <a:off x="14542428" y="3345128"/>
            <a:ext cx="2089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TESTING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C3CF56F-C932-E5C3-2494-921BA3D814DF}"/>
              </a:ext>
            </a:extLst>
          </p:cNvPr>
          <p:cNvSpPr txBox="1"/>
          <p:nvPr/>
        </p:nvSpPr>
        <p:spPr>
          <a:xfrm>
            <a:off x="15013098" y="3910718"/>
            <a:ext cx="1892036" cy="2908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Jest</a:t>
            </a:r>
          </a:p>
          <a:p>
            <a:pPr algn="just">
              <a:lnSpc>
                <a:spcPct val="150000"/>
              </a:lnSpc>
            </a:pPr>
            <a:r>
              <a:rPr lang="en-US" sz="2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Swagger UI</a:t>
            </a:r>
          </a:p>
          <a:p>
            <a:pPr algn="just">
              <a:lnSpc>
                <a:spcPct val="150000"/>
              </a:lnSpc>
            </a:pPr>
            <a:r>
              <a:rPr lang="en-US" sz="2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Selinium</a:t>
            </a:r>
            <a:endParaRPr lang="en-IN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124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DFD03-B75D-319A-EDB6-C4976A4E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44FFC93-E442-D99F-8167-095FB1654EB3}"/>
              </a:ext>
            </a:extLst>
          </p:cNvPr>
          <p:cNvGrpSpPr/>
          <p:nvPr/>
        </p:nvGrpSpPr>
        <p:grpSpPr>
          <a:xfrm>
            <a:off x="1365550" y="2355724"/>
            <a:ext cx="16939510" cy="7969353"/>
            <a:chOff x="0" y="2016665"/>
            <a:chExt cx="16939510" cy="7969353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D724A48-BD19-6267-BF34-D02050658AD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16665"/>
              <a:ext cx="13652820" cy="6891819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F7B6DA8-50D8-C2A4-23D2-FF22DD6AB61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3999" y="6709979"/>
              <a:ext cx="7795511" cy="3276039"/>
            </a:xfrm>
            <a:prstGeom prst="rect">
              <a:avLst/>
            </a:prstGeom>
          </p:spPr>
        </p:pic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187F3AB1-CD74-0F2C-AA0F-676A60AA2E9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58233" y="2212921"/>
            <a:ext cx="2437637" cy="1985699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5F91E77B-0B80-D1AA-85F5-C2F22B1F685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3722" y="7747668"/>
            <a:ext cx="1256320" cy="1256320"/>
          </a:xfrm>
          <a:prstGeom prst="rect">
            <a:avLst/>
          </a:prstGeom>
        </p:spPr>
      </p:pic>
      <p:sp>
        <p:nvSpPr>
          <p:cNvPr id="13" name="object 13">
            <a:extLst>
              <a:ext uri="{FF2B5EF4-FFF2-40B4-BE49-F238E27FC236}">
                <a16:creationId xmlns:a16="http://schemas.microsoft.com/office/drawing/2014/main" id="{652F9CFA-3BAE-C535-585F-975CC0C2FDB6}"/>
              </a:ext>
            </a:extLst>
          </p:cNvPr>
          <p:cNvSpPr/>
          <p:nvPr/>
        </p:nvSpPr>
        <p:spPr>
          <a:xfrm>
            <a:off x="1028702" y="9444473"/>
            <a:ext cx="415290" cy="415290"/>
          </a:xfrm>
          <a:custGeom>
            <a:avLst/>
            <a:gdLst/>
            <a:ahLst/>
            <a:cxnLst/>
            <a:rect l="l" t="t" r="r" b="b"/>
            <a:pathLst>
              <a:path w="415290" h="415290">
                <a:moveTo>
                  <a:pt x="207607" y="415195"/>
                </a:moveTo>
                <a:lnTo>
                  <a:pt x="159648" y="409672"/>
                </a:lnTo>
                <a:lnTo>
                  <a:pt x="159892" y="409672"/>
                </a:lnTo>
                <a:lnTo>
                  <a:pt x="116212" y="394033"/>
                </a:lnTo>
                <a:lnTo>
                  <a:pt x="79242" y="370532"/>
                </a:lnTo>
                <a:lnTo>
                  <a:pt x="45570" y="337380"/>
                </a:lnTo>
                <a:lnTo>
                  <a:pt x="21082" y="298849"/>
                </a:lnTo>
                <a:lnTo>
                  <a:pt x="5476" y="255170"/>
                </a:lnTo>
                <a:lnTo>
                  <a:pt x="0" y="207585"/>
                </a:lnTo>
                <a:lnTo>
                  <a:pt x="5485" y="159987"/>
                </a:lnTo>
                <a:lnTo>
                  <a:pt x="21102" y="116294"/>
                </a:lnTo>
                <a:lnTo>
                  <a:pt x="45607" y="77751"/>
                </a:lnTo>
                <a:lnTo>
                  <a:pt x="77755" y="45604"/>
                </a:lnTo>
                <a:lnTo>
                  <a:pt x="116302" y="21099"/>
                </a:lnTo>
                <a:lnTo>
                  <a:pt x="160001" y="5482"/>
                </a:lnTo>
                <a:lnTo>
                  <a:pt x="207607" y="0"/>
                </a:lnTo>
                <a:lnTo>
                  <a:pt x="255206" y="5482"/>
                </a:lnTo>
                <a:lnTo>
                  <a:pt x="292757" y="18902"/>
                </a:lnTo>
                <a:lnTo>
                  <a:pt x="207607" y="18902"/>
                </a:lnTo>
                <a:lnTo>
                  <a:pt x="157444" y="25642"/>
                </a:lnTo>
                <a:lnTo>
                  <a:pt x="112367" y="44662"/>
                </a:lnTo>
                <a:lnTo>
                  <a:pt x="74174" y="74164"/>
                </a:lnTo>
                <a:lnTo>
                  <a:pt x="44666" y="112351"/>
                </a:lnTo>
                <a:lnTo>
                  <a:pt x="25641" y="157424"/>
                </a:lnTo>
                <a:lnTo>
                  <a:pt x="18899" y="207585"/>
                </a:lnTo>
                <a:lnTo>
                  <a:pt x="25641" y="257757"/>
                </a:lnTo>
                <a:lnTo>
                  <a:pt x="44666" y="302836"/>
                </a:lnTo>
                <a:lnTo>
                  <a:pt x="74174" y="341027"/>
                </a:lnTo>
                <a:lnTo>
                  <a:pt x="112367" y="370532"/>
                </a:lnTo>
                <a:lnTo>
                  <a:pt x="157444" y="389553"/>
                </a:lnTo>
                <a:lnTo>
                  <a:pt x="207607" y="396293"/>
                </a:lnTo>
                <a:lnTo>
                  <a:pt x="292550" y="396293"/>
                </a:lnTo>
                <a:lnTo>
                  <a:pt x="255184" y="409672"/>
                </a:lnTo>
                <a:lnTo>
                  <a:pt x="207607" y="415195"/>
                </a:lnTo>
                <a:close/>
              </a:path>
              <a:path w="415290" h="415290">
                <a:moveTo>
                  <a:pt x="292550" y="396293"/>
                </a:moveTo>
                <a:lnTo>
                  <a:pt x="207607" y="396293"/>
                </a:lnTo>
                <a:lnTo>
                  <a:pt x="257770" y="389553"/>
                </a:lnTo>
                <a:lnTo>
                  <a:pt x="302847" y="370532"/>
                </a:lnTo>
                <a:lnTo>
                  <a:pt x="341040" y="341027"/>
                </a:lnTo>
                <a:lnTo>
                  <a:pt x="370548" y="302836"/>
                </a:lnTo>
                <a:lnTo>
                  <a:pt x="389573" y="257757"/>
                </a:lnTo>
                <a:lnTo>
                  <a:pt x="396314" y="207585"/>
                </a:lnTo>
                <a:lnTo>
                  <a:pt x="389517" y="157424"/>
                </a:lnTo>
                <a:lnTo>
                  <a:pt x="372131" y="116294"/>
                </a:lnTo>
                <a:lnTo>
                  <a:pt x="343704" y="77751"/>
                </a:lnTo>
                <a:lnTo>
                  <a:pt x="303946" y="45604"/>
                </a:lnTo>
                <a:lnTo>
                  <a:pt x="257655" y="25642"/>
                </a:lnTo>
                <a:lnTo>
                  <a:pt x="257466" y="25642"/>
                </a:lnTo>
                <a:lnTo>
                  <a:pt x="207607" y="18902"/>
                </a:lnTo>
                <a:lnTo>
                  <a:pt x="292757" y="18902"/>
                </a:lnTo>
                <a:lnTo>
                  <a:pt x="298903" y="21099"/>
                </a:lnTo>
                <a:lnTo>
                  <a:pt x="337451" y="45604"/>
                </a:lnTo>
                <a:lnTo>
                  <a:pt x="369604" y="77751"/>
                </a:lnTo>
                <a:lnTo>
                  <a:pt x="394113" y="116294"/>
                </a:lnTo>
                <a:lnTo>
                  <a:pt x="409733" y="159987"/>
                </a:lnTo>
                <a:lnTo>
                  <a:pt x="415217" y="207585"/>
                </a:lnTo>
                <a:lnTo>
                  <a:pt x="409692" y="255170"/>
                </a:lnTo>
                <a:lnTo>
                  <a:pt x="394051" y="298849"/>
                </a:lnTo>
                <a:lnTo>
                  <a:pt x="369536" y="337380"/>
                </a:lnTo>
                <a:lnTo>
                  <a:pt x="337392" y="369522"/>
                </a:lnTo>
                <a:lnTo>
                  <a:pt x="298860" y="394033"/>
                </a:lnTo>
                <a:lnTo>
                  <a:pt x="292550" y="396293"/>
                </a:lnTo>
                <a:close/>
              </a:path>
              <a:path w="415290" h="415290">
                <a:moveTo>
                  <a:pt x="226928" y="329025"/>
                </a:moveTo>
                <a:lnTo>
                  <a:pt x="181000" y="329025"/>
                </a:lnTo>
                <a:lnTo>
                  <a:pt x="287058" y="222402"/>
                </a:lnTo>
                <a:lnTo>
                  <a:pt x="98572" y="222402"/>
                </a:lnTo>
                <a:lnTo>
                  <a:pt x="98572" y="184597"/>
                </a:lnTo>
                <a:lnTo>
                  <a:pt x="281397" y="184597"/>
                </a:lnTo>
                <a:lnTo>
                  <a:pt x="175487" y="78490"/>
                </a:lnTo>
                <a:lnTo>
                  <a:pt x="221243" y="78490"/>
                </a:lnTo>
                <a:lnTo>
                  <a:pt x="349107" y="206355"/>
                </a:lnTo>
                <a:lnTo>
                  <a:pt x="226928" y="329025"/>
                </a:lnTo>
                <a:close/>
              </a:path>
            </a:pathLst>
          </a:custGeom>
          <a:solidFill>
            <a:srgbClr val="240960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465CF7C1-9110-BA35-21C2-216959A19748}"/>
              </a:ext>
            </a:extLst>
          </p:cNvPr>
          <p:cNvSpPr/>
          <p:nvPr/>
        </p:nvSpPr>
        <p:spPr>
          <a:xfrm>
            <a:off x="8665698" y="4679266"/>
            <a:ext cx="407964" cy="334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66666"/>
                </a:solidFill>
              </a:rPr>
              <a:t>✦</a:t>
            </a:r>
            <a:endParaRPr lang="en-US" sz="2800" dirty="0"/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28E36BC8-26DC-3CF3-BE57-6F2376FDC61A}"/>
              </a:ext>
            </a:extLst>
          </p:cNvPr>
          <p:cNvSpPr/>
          <p:nvPr/>
        </p:nvSpPr>
        <p:spPr>
          <a:xfrm>
            <a:off x="457200" y="201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C447BE45-4A37-E0A4-7E47-CB25CE2AEFAD}"/>
              </a:ext>
            </a:extLst>
          </p:cNvPr>
          <p:cNvSpPr/>
          <p:nvPr/>
        </p:nvSpPr>
        <p:spPr>
          <a:xfrm>
            <a:off x="4501662" y="323204"/>
            <a:ext cx="9144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500" b="1" kern="0" spc="8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CONCLUSION</a:t>
            </a:r>
            <a:endParaRPr lang="en-US" sz="4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1B6EFC1F-DCCA-2138-D641-0B9E85F30056}"/>
              </a:ext>
            </a:extLst>
          </p:cNvPr>
          <p:cNvSpPr/>
          <p:nvPr/>
        </p:nvSpPr>
        <p:spPr>
          <a:xfrm>
            <a:off x="274320" y="135331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C7567165-CDD5-ABE1-87B0-86C2B240351A}"/>
              </a:ext>
            </a:extLst>
          </p:cNvPr>
          <p:cNvSpPr/>
          <p:nvPr/>
        </p:nvSpPr>
        <p:spPr>
          <a:xfrm>
            <a:off x="1517407" y="2714933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CBF33AE2-A8ED-35AF-7698-8D8DBA2219C4}"/>
              </a:ext>
            </a:extLst>
          </p:cNvPr>
          <p:cNvSpPr/>
          <p:nvPr/>
        </p:nvSpPr>
        <p:spPr>
          <a:xfrm>
            <a:off x="1448541" y="2880096"/>
            <a:ext cx="4022710" cy="2142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Directly addresses medication non-adherence — one of healthcare's biggest problems</a:t>
            </a:r>
            <a:endParaRPr lang="en-US" sz="2500" dirty="0">
              <a:solidFill>
                <a:schemeClr val="tx1"/>
              </a:solidFill>
            </a:endParaRPr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1F29CE6B-A7D7-C057-11FE-AB33C513797A}"/>
              </a:ext>
            </a:extLst>
          </p:cNvPr>
          <p:cNvSpPr/>
          <p:nvPr/>
        </p:nvSpPr>
        <p:spPr>
          <a:xfrm>
            <a:off x="6238801" y="2549599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roles, 1 platform</a:t>
            </a:r>
            <a:endParaRPr lang="en-US" sz="2500" dirty="0">
              <a:solidFill>
                <a:schemeClr val="tx1"/>
              </a:solidFill>
            </a:endParaRPr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F1F82E47-5283-C6C1-1E85-6BAB2D6D91D7}"/>
              </a:ext>
            </a:extLst>
          </p:cNvPr>
          <p:cNvSpPr/>
          <p:nvPr/>
        </p:nvSpPr>
        <p:spPr>
          <a:xfrm>
            <a:off x="6238801" y="3399939"/>
            <a:ext cx="4022710" cy="1110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Admin, Doctor, Patient and Staff all connected in one seamless system</a:t>
            </a:r>
            <a:endParaRPr lang="en-US" sz="2500" dirty="0">
              <a:solidFill>
                <a:schemeClr val="tx1"/>
              </a:solidFill>
            </a:endParaRPr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E34C896F-27F6-0BE6-D06D-9B2656BDD631}"/>
              </a:ext>
            </a:extLst>
          </p:cNvPr>
          <p:cNvSpPr/>
          <p:nvPr/>
        </p:nvSpPr>
        <p:spPr>
          <a:xfrm>
            <a:off x="1425795" y="5745932"/>
            <a:ext cx="3154680" cy="1050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intelligence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64495A38-5D8D-AA0D-7AA9-F8F1B261BF2B}"/>
              </a:ext>
            </a:extLst>
          </p:cNvPr>
          <p:cNvSpPr/>
          <p:nvPr/>
        </p:nvSpPr>
        <p:spPr>
          <a:xfrm>
            <a:off x="1462188" y="6678619"/>
            <a:ext cx="3651447" cy="1669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Backend auto-classifies every dose — accurate adherence reporting with zero manual work</a:t>
            </a:r>
            <a:endParaRPr lang="en-US" sz="2500" dirty="0">
              <a:solidFill>
                <a:schemeClr val="tx1"/>
              </a:solidFill>
            </a:endParaRPr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E91F5517-2A34-6CD2-AE54-B0AD18FCABD4}"/>
              </a:ext>
            </a:extLst>
          </p:cNvPr>
          <p:cNvSpPr/>
          <p:nvPr/>
        </p:nvSpPr>
        <p:spPr>
          <a:xfrm>
            <a:off x="4754880" y="309067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67848FCE-A19A-E37D-2239-97F1235BA538}"/>
              </a:ext>
            </a:extLst>
          </p:cNvPr>
          <p:cNvSpPr/>
          <p:nvPr/>
        </p:nvSpPr>
        <p:spPr>
          <a:xfrm>
            <a:off x="6213780" y="6078543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assistant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0" name="Text 20">
            <a:extLst>
              <a:ext uri="{FF2B5EF4-FFF2-40B4-BE49-F238E27FC236}">
                <a16:creationId xmlns:a16="http://schemas.microsoft.com/office/drawing/2014/main" id="{3E8686FD-6EE0-D0E7-BF62-6C23B01B171E}"/>
              </a:ext>
            </a:extLst>
          </p:cNvPr>
          <p:cNvSpPr/>
          <p:nvPr/>
        </p:nvSpPr>
        <p:spPr>
          <a:xfrm>
            <a:off x="6238801" y="6678619"/>
            <a:ext cx="3154680" cy="2042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chemeClr val="tx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Personalized medication chatbot using real prescription data — not generic advice</a:t>
            </a:r>
            <a:endParaRPr lang="en-US" sz="2500" dirty="0">
              <a:solidFill>
                <a:schemeClr val="tx1"/>
              </a:solidFill>
            </a:endParaRPr>
          </a:p>
        </p:txBody>
      </p:sp>
      <p:sp>
        <p:nvSpPr>
          <p:cNvPr id="62" name="Text 22">
            <a:extLst>
              <a:ext uri="{FF2B5EF4-FFF2-40B4-BE49-F238E27FC236}">
                <a16:creationId xmlns:a16="http://schemas.microsoft.com/office/drawing/2014/main" id="{ACA44C53-93A8-C10D-6107-2C552EB2736D}"/>
              </a:ext>
            </a:extLst>
          </p:cNvPr>
          <p:cNvSpPr/>
          <p:nvPr/>
        </p:nvSpPr>
        <p:spPr>
          <a:xfrm>
            <a:off x="11887200" y="7064719"/>
            <a:ext cx="6390564" cy="2018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kern="0" spc="1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NEXT PHASE  →  Email reminders  ·  Mobile application  ·  Teleconsultation module</a:t>
            </a: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90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A9ED9-EDAC-EACC-546A-E32DB256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BA9CC14-E06F-B2EE-0BF3-4CC94212BA73}"/>
              </a:ext>
            </a:extLst>
          </p:cNvPr>
          <p:cNvGrpSpPr/>
          <p:nvPr/>
        </p:nvGrpSpPr>
        <p:grpSpPr>
          <a:xfrm>
            <a:off x="254903" y="1901889"/>
            <a:ext cx="18287999" cy="6320087"/>
            <a:chOff x="0" y="2246484"/>
            <a:chExt cx="18287999" cy="6320087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B5304F1-B787-72D2-6899-4616720D806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46484"/>
              <a:ext cx="18287999" cy="6320087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6392BE9-9069-AE9C-9863-779EBA228E75}"/>
                </a:ext>
              </a:extLst>
            </p:cNvPr>
            <p:cNvSpPr/>
            <p:nvPr/>
          </p:nvSpPr>
          <p:spPr>
            <a:xfrm>
              <a:off x="497434" y="2688210"/>
              <a:ext cx="17564100" cy="5437505"/>
            </a:xfrm>
            <a:custGeom>
              <a:avLst/>
              <a:gdLst/>
              <a:ahLst/>
              <a:cxnLst/>
              <a:rect l="l" t="t" r="r" b="b"/>
              <a:pathLst>
                <a:path w="17564100" h="5437505">
                  <a:moveTo>
                    <a:pt x="17564083" y="5437137"/>
                  </a:moveTo>
                  <a:lnTo>
                    <a:pt x="0" y="5437137"/>
                  </a:lnTo>
                  <a:lnTo>
                    <a:pt x="0" y="0"/>
                  </a:lnTo>
                  <a:lnTo>
                    <a:pt x="17564083" y="0"/>
                  </a:lnTo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object 8">
            <a:extLst>
              <a:ext uri="{FF2B5EF4-FFF2-40B4-BE49-F238E27FC236}">
                <a16:creationId xmlns:a16="http://schemas.microsoft.com/office/drawing/2014/main" id="{ABDCEC72-AA34-36D8-661C-76BED2BFBBD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979" y="1975105"/>
            <a:ext cx="1256320" cy="1256320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879DED9B-2B03-9711-2594-E33578BABDC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175486" y="7267651"/>
            <a:ext cx="1256320" cy="1256320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774C77E9-C53E-2B5B-6623-06370C92510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51949" y="1020178"/>
            <a:ext cx="1256320" cy="1256320"/>
          </a:xfrm>
          <a:prstGeom prst="rect">
            <a:avLst/>
          </a:prstGeom>
        </p:spPr>
      </p:pic>
      <p:pic>
        <p:nvPicPr>
          <p:cNvPr id="18" name="object 18">
            <a:extLst>
              <a:ext uri="{FF2B5EF4-FFF2-40B4-BE49-F238E27FC236}">
                <a16:creationId xmlns:a16="http://schemas.microsoft.com/office/drawing/2014/main" id="{1B2C2F47-A440-AB73-2689-5468500785EF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34183" y="297159"/>
            <a:ext cx="3185720" cy="2872038"/>
          </a:xfrm>
          <a:prstGeom prst="rect">
            <a:avLst/>
          </a:prstGeom>
        </p:spPr>
      </p:pic>
      <p:sp>
        <p:nvSpPr>
          <p:cNvPr id="19" name="object 19">
            <a:extLst>
              <a:ext uri="{FF2B5EF4-FFF2-40B4-BE49-F238E27FC236}">
                <a16:creationId xmlns:a16="http://schemas.microsoft.com/office/drawing/2014/main" id="{E9374E93-48E2-3A1A-0A87-D443C0466954}"/>
              </a:ext>
            </a:extLst>
          </p:cNvPr>
          <p:cNvSpPr/>
          <p:nvPr/>
        </p:nvSpPr>
        <p:spPr>
          <a:xfrm>
            <a:off x="1028702" y="9444473"/>
            <a:ext cx="415290" cy="415290"/>
          </a:xfrm>
          <a:custGeom>
            <a:avLst/>
            <a:gdLst/>
            <a:ahLst/>
            <a:cxnLst/>
            <a:rect l="l" t="t" r="r" b="b"/>
            <a:pathLst>
              <a:path w="415290" h="415290">
                <a:moveTo>
                  <a:pt x="207607" y="415195"/>
                </a:moveTo>
                <a:lnTo>
                  <a:pt x="159648" y="409672"/>
                </a:lnTo>
                <a:lnTo>
                  <a:pt x="159892" y="409672"/>
                </a:lnTo>
                <a:lnTo>
                  <a:pt x="116212" y="394033"/>
                </a:lnTo>
                <a:lnTo>
                  <a:pt x="79242" y="370532"/>
                </a:lnTo>
                <a:lnTo>
                  <a:pt x="45570" y="337380"/>
                </a:lnTo>
                <a:lnTo>
                  <a:pt x="21082" y="298849"/>
                </a:lnTo>
                <a:lnTo>
                  <a:pt x="5476" y="255170"/>
                </a:lnTo>
                <a:lnTo>
                  <a:pt x="0" y="207585"/>
                </a:lnTo>
                <a:lnTo>
                  <a:pt x="5485" y="159987"/>
                </a:lnTo>
                <a:lnTo>
                  <a:pt x="21102" y="116294"/>
                </a:lnTo>
                <a:lnTo>
                  <a:pt x="45607" y="77751"/>
                </a:lnTo>
                <a:lnTo>
                  <a:pt x="77755" y="45604"/>
                </a:lnTo>
                <a:lnTo>
                  <a:pt x="116302" y="21099"/>
                </a:lnTo>
                <a:lnTo>
                  <a:pt x="160001" y="5482"/>
                </a:lnTo>
                <a:lnTo>
                  <a:pt x="207607" y="0"/>
                </a:lnTo>
                <a:lnTo>
                  <a:pt x="255206" y="5482"/>
                </a:lnTo>
                <a:lnTo>
                  <a:pt x="292757" y="18902"/>
                </a:lnTo>
                <a:lnTo>
                  <a:pt x="207607" y="18902"/>
                </a:lnTo>
                <a:lnTo>
                  <a:pt x="157444" y="25642"/>
                </a:lnTo>
                <a:lnTo>
                  <a:pt x="112367" y="44662"/>
                </a:lnTo>
                <a:lnTo>
                  <a:pt x="74174" y="74164"/>
                </a:lnTo>
                <a:lnTo>
                  <a:pt x="44666" y="112351"/>
                </a:lnTo>
                <a:lnTo>
                  <a:pt x="25641" y="157424"/>
                </a:lnTo>
                <a:lnTo>
                  <a:pt x="18899" y="207585"/>
                </a:lnTo>
                <a:lnTo>
                  <a:pt x="25641" y="257757"/>
                </a:lnTo>
                <a:lnTo>
                  <a:pt x="44666" y="302836"/>
                </a:lnTo>
                <a:lnTo>
                  <a:pt x="74174" y="341027"/>
                </a:lnTo>
                <a:lnTo>
                  <a:pt x="112367" y="370532"/>
                </a:lnTo>
                <a:lnTo>
                  <a:pt x="157444" y="389553"/>
                </a:lnTo>
                <a:lnTo>
                  <a:pt x="207607" y="396293"/>
                </a:lnTo>
                <a:lnTo>
                  <a:pt x="292550" y="396293"/>
                </a:lnTo>
                <a:lnTo>
                  <a:pt x="255184" y="409672"/>
                </a:lnTo>
                <a:lnTo>
                  <a:pt x="207607" y="415195"/>
                </a:lnTo>
                <a:close/>
              </a:path>
              <a:path w="415290" h="415290">
                <a:moveTo>
                  <a:pt x="292550" y="396293"/>
                </a:moveTo>
                <a:lnTo>
                  <a:pt x="207607" y="396293"/>
                </a:lnTo>
                <a:lnTo>
                  <a:pt x="257770" y="389553"/>
                </a:lnTo>
                <a:lnTo>
                  <a:pt x="302847" y="370532"/>
                </a:lnTo>
                <a:lnTo>
                  <a:pt x="341040" y="341027"/>
                </a:lnTo>
                <a:lnTo>
                  <a:pt x="370548" y="302836"/>
                </a:lnTo>
                <a:lnTo>
                  <a:pt x="389573" y="257757"/>
                </a:lnTo>
                <a:lnTo>
                  <a:pt x="396314" y="207585"/>
                </a:lnTo>
                <a:lnTo>
                  <a:pt x="389517" y="157424"/>
                </a:lnTo>
                <a:lnTo>
                  <a:pt x="372131" y="116294"/>
                </a:lnTo>
                <a:lnTo>
                  <a:pt x="343704" y="77751"/>
                </a:lnTo>
                <a:lnTo>
                  <a:pt x="303946" y="45604"/>
                </a:lnTo>
                <a:lnTo>
                  <a:pt x="257655" y="25642"/>
                </a:lnTo>
                <a:lnTo>
                  <a:pt x="257466" y="25642"/>
                </a:lnTo>
                <a:lnTo>
                  <a:pt x="207607" y="18902"/>
                </a:lnTo>
                <a:lnTo>
                  <a:pt x="292757" y="18902"/>
                </a:lnTo>
                <a:lnTo>
                  <a:pt x="298903" y="21099"/>
                </a:lnTo>
                <a:lnTo>
                  <a:pt x="337451" y="45604"/>
                </a:lnTo>
                <a:lnTo>
                  <a:pt x="369604" y="77751"/>
                </a:lnTo>
                <a:lnTo>
                  <a:pt x="394113" y="116294"/>
                </a:lnTo>
                <a:lnTo>
                  <a:pt x="409733" y="159987"/>
                </a:lnTo>
                <a:lnTo>
                  <a:pt x="415217" y="207585"/>
                </a:lnTo>
                <a:lnTo>
                  <a:pt x="409692" y="255170"/>
                </a:lnTo>
                <a:lnTo>
                  <a:pt x="394051" y="298849"/>
                </a:lnTo>
                <a:lnTo>
                  <a:pt x="369536" y="337380"/>
                </a:lnTo>
                <a:lnTo>
                  <a:pt x="337392" y="369522"/>
                </a:lnTo>
                <a:lnTo>
                  <a:pt x="298860" y="394033"/>
                </a:lnTo>
                <a:lnTo>
                  <a:pt x="292550" y="396293"/>
                </a:lnTo>
                <a:close/>
              </a:path>
              <a:path w="415290" h="415290">
                <a:moveTo>
                  <a:pt x="226928" y="329025"/>
                </a:moveTo>
                <a:lnTo>
                  <a:pt x="181000" y="329025"/>
                </a:lnTo>
                <a:lnTo>
                  <a:pt x="287058" y="222402"/>
                </a:lnTo>
                <a:lnTo>
                  <a:pt x="98572" y="222402"/>
                </a:lnTo>
                <a:lnTo>
                  <a:pt x="98572" y="184597"/>
                </a:lnTo>
                <a:lnTo>
                  <a:pt x="281397" y="184597"/>
                </a:lnTo>
                <a:lnTo>
                  <a:pt x="175487" y="78490"/>
                </a:lnTo>
                <a:lnTo>
                  <a:pt x="221243" y="78490"/>
                </a:lnTo>
                <a:lnTo>
                  <a:pt x="349107" y="206355"/>
                </a:lnTo>
                <a:lnTo>
                  <a:pt x="226928" y="329025"/>
                </a:lnTo>
                <a:close/>
              </a:path>
            </a:pathLst>
          </a:custGeom>
          <a:solidFill>
            <a:srgbClr val="24096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1D48D00-2365-FC5F-7AF8-C9FA377D4DA7}"/>
              </a:ext>
            </a:extLst>
          </p:cNvPr>
          <p:cNvSpPr txBox="1"/>
          <p:nvPr/>
        </p:nvSpPr>
        <p:spPr>
          <a:xfrm>
            <a:off x="16037566" y="9416426"/>
            <a:ext cx="1056005" cy="28789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spc="90" dirty="0">
                <a:solidFill>
                  <a:srgbClr val="2409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sz="1800" b="1" spc="295" dirty="0">
                <a:solidFill>
                  <a:srgbClr val="2409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35" dirty="0">
                <a:solidFill>
                  <a:srgbClr val="2409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A6EA2A4-D42F-8FBE-C095-663D864B4385}"/>
              </a:ext>
            </a:extLst>
          </p:cNvPr>
          <p:cNvSpPr/>
          <p:nvPr/>
        </p:nvSpPr>
        <p:spPr>
          <a:xfrm>
            <a:off x="4681552" y="10497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F06D3F80-504B-58BF-3188-F11088428AA4}"/>
              </a:ext>
            </a:extLst>
          </p:cNvPr>
          <p:cNvSpPr/>
          <p:nvPr/>
        </p:nvSpPr>
        <p:spPr>
          <a:xfrm>
            <a:off x="4681551" y="1260108"/>
            <a:ext cx="8187033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MY TEAM</a:t>
            </a:r>
            <a:endParaRPr lang="en-US" sz="5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D0676528-C451-2733-B443-958045DD4D8A}"/>
              </a:ext>
            </a:extLst>
          </p:cNvPr>
          <p:cNvSpPr/>
          <p:nvPr/>
        </p:nvSpPr>
        <p:spPr>
          <a:xfrm>
            <a:off x="1443992" y="3233436"/>
            <a:ext cx="3252426" cy="1583005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0C1CDA0A-1598-E707-5B58-43BA80BDAF6D}"/>
              </a:ext>
            </a:extLst>
          </p:cNvPr>
          <p:cNvSpPr/>
          <p:nvPr/>
        </p:nvSpPr>
        <p:spPr>
          <a:xfrm>
            <a:off x="1578526" y="3405954"/>
            <a:ext cx="284519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EB31E485-3397-EBF7-B591-4E26EF69492D}"/>
              </a:ext>
            </a:extLst>
          </p:cNvPr>
          <p:cNvSpPr/>
          <p:nvPr/>
        </p:nvSpPr>
        <p:spPr>
          <a:xfrm>
            <a:off x="1608770" y="3943371"/>
            <a:ext cx="28451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P Maruthi Sreeram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D3FCD764-0E69-842C-D9B5-554CB61BA8C9}"/>
              </a:ext>
            </a:extLst>
          </p:cNvPr>
          <p:cNvSpPr/>
          <p:nvPr/>
        </p:nvSpPr>
        <p:spPr>
          <a:xfrm>
            <a:off x="13487756" y="3239553"/>
            <a:ext cx="3252425" cy="1576888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7C049FB-3D96-A096-53F2-47609ABFBA19}"/>
              </a:ext>
            </a:extLst>
          </p:cNvPr>
          <p:cNvSpPr/>
          <p:nvPr/>
        </p:nvSpPr>
        <p:spPr>
          <a:xfrm>
            <a:off x="13784483" y="3405954"/>
            <a:ext cx="265896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C1134C1C-E1FE-74E3-5BD3-BD4AEFB0B47B}"/>
              </a:ext>
            </a:extLst>
          </p:cNvPr>
          <p:cNvSpPr/>
          <p:nvPr/>
        </p:nvSpPr>
        <p:spPr>
          <a:xfrm>
            <a:off x="13784482" y="3931470"/>
            <a:ext cx="26589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G Namitha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E77A1384-8AD3-9736-1B54-CA5761DDBF18}"/>
              </a:ext>
            </a:extLst>
          </p:cNvPr>
          <p:cNvSpPr/>
          <p:nvPr/>
        </p:nvSpPr>
        <p:spPr>
          <a:xfrm>
            <a:off x="1429125" y="5386363"/>
            <a:ext cx="3252426" cy="1669211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2B2F3540-9210-181B-2B61-CB957F597F70}"/>
              </a:ext>
            </a:extLst>
          </p:cNvPr>
          <p:cNvSpPr/>
          <p:nvPr/>
        </p:nvSpPr>
        <p:spPr>
          <a:xfrm>
            <a:off x="1513299" y="5541670"/>
            <a:ext cx="284519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CHATBOT</a:t>
            </a:r>
            <a:endParaRPr lang="en-US" sz="2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93333097-BB3C-CFC7-2BF3-8B293D981995}"/>
              </a:ext>
            </a:extLst>
          </p:cNvPr>
          <p:cNvSpPr/>
          <p:nvPr/>
        </p:nvSpPr>
        <p:spPr>
          <a:xfrm>
            <a:off x="1510257" y="6212176"/>
            <a:ext cx="28451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B Pramodhini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03A949CC-212C-07B0-B352-D9F331735373}"/>
              </a:ext>
            </a:extLst>
          </p:cNvPr>
          <p:cNvSpPr/>
          <p:nvPr/>
        </p:nvSpPr>
        <p:spPr>
          <a:xfrm>
            <a:off x="13574605" y="5382567"/>
            <a:ext cx="3252425" cy="1669210"/>
          </a:xfrm>
          <a:prstGeom prst="rect">
            <a:avLst/>
          </a:prstGeom>
          <a:solidFill>
            <a:srgbClr val="111111">
              <a:alpha val="80000"/>
            </a:srgbClr>
          </a:solidFill>
          <a:ln w="1016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7EB5D7CF-987D-16FC-7E25-3DA2A6954DBF}"/>
              </a:ext>
            </a:extLst>
          </p:cNvPr>
          <p:cNvSpPr/>
          <p:nvPr/>
        </p:nvSpPr>
        <p:spPr>
          <a:xfrm>
            <a:off x="13894490" y="5548150"/>
            <a:ext cx="261265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kern="0" spc="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TESTING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E99317DA-032F-30C7-FC58-714D9E0DA088}"/>
              </a:ext>
            </a:extLst>
          </p:cNvPr>
          <p:cNvSpPr/>
          <p:nvPr/>
        </p:nvSpPr>
        <p:spPr>
          <a:xfrm>
            <a:off x="13863988" y="6153764"/>
            <a:ext cx="261265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S Sathwik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A7B0D13D-04C3-D837-5848-33F40F3A4E3A}"/>
              </a:ext>
            </a:extLst>
          </p:cNvPr>
          <p:cNvSpPr/>
          <p:nvPr/>
        </p:nvSpPr>
        <p:spPr>
          <a:xfrm>
            <a:off x="6312802" y="4773927"/>
            <a:ext cx="5685547" cy="669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kern="0" spc="100" dirty="0">
                <a:solidFill>
                  <a:schemeClr val="tx1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MENTOR :  Vinay Prashant</a:t>
            </a:r>
            <a:endParaRPr lang="en-US" sz="3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455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9839" y="2149955"/>
            <a:ext cx="2999350" cy="29993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931940" y="2705096"/>
            <a:ext cx="5658485" cy="208851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0" b="1" spc="470" dirty="0">
                <a:solidFill>
                  <a:srgbClr val="240960"/>
                </a:solidFill>
                <a:latin typeface="Tahoma"/>
                <a:cs typeface="Tahoma"/>
              </a:rPr>
              <a:t>Thank</a:t>
            </a:r>
            <a:endParaRPr sz="135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90857" y="3451489"/>
            <a:ext cx="1931784" cy="193178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" y="8342526"/>
            <a:ext cx="18288000" cy="106897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6037566" y="9416426"/>
            <a:ext cx="986790" cy="28789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spc="90" dirty="0">
                <a:solidFill>
                  <a:srgbClr val="240960"/>
                </a:solidFill>
                <a:latin typeface="Tahoma"/>
                <a:cs typeface="Tahoma"/>
              </a:rPr>
              <a:t>Page</a:t>
            </a:r>
            <a:r>
              <a:rPr sz="1800" b="1" spc="295" dirty="0">
                <a:solidFill>
                  <a:srgbClr val="240960"/>
                </a:solidFill>
                <a:latin typeface="Tahoma"/>
                <a:cs typeface="Tahoma"/>
              </a:rPr>
              <a:t> </a:t>
            </a:r>
            <a:r>
              <a:rPr sz="1800" spc="-175" dirty="0">
                <a:solidFill>
                  <a:srgbClr val="240960"/>
                </a:solidFill>
                <a:latin typeface="Verdana"/>
                <a:cs typeface="Verdana"/>
              </a:rPr>
              <a:t>1</a:t>
            </a:r>
            <a:r>
              <a:rPr lang="en-US" spc="-175" dirty="0">
                <a:solidFill>
                  <a:srgbClr val="240960"/>
                </a:solidFill>
                <a:latin typeface="Verdana"/>
                <a:cs typeface="Verdana"/>
              </a:rPr>
              <a:t>3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60825" y="4149741"/>
            <a:ext cx="3782060" cy="20948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135"/>
              </a:spcBef>
            </a:pPr>
            <a:r>
              <a:rPr sz="13500" spc="-290" dirty="0">
                <a:solidFill>
                  <a:srgbClr val="240960"/>
                </a:solidFill>
                <a:latin typeface="Verdana"/>
                <a:cs typeface="Verdana"/>
              </a:rPr>
              <a:t>You.</a:t>
            </a:r>
            <a:endParaRPr sz="13500" dirty="0">
              <a:latin typeface="Verdana"/>
              <a:cs typeface="Verdana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93E190B9-4955-889D-5A11-DE3354A7A2B2}"/>
              </a:ext>
            </a:extLst>
          </p:cNvPr>
          <p:cNvSpPr/>
          <p:nvPr/>
        </p:nvSpPr>
        <p:spPr>
          <a:xfrm>
            <a:off x="3962400" y="8427282"/>
            <a:ext cx="10515600" cy="9072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kern="0" spc="100" dirty="0">
                <a:solidFill>
                  <a:schemeClr val="accent4">
                    <a:lumMod val="50000"/>
                  </a:schemeClr>
                </a:solidFill>
                <a:latin typeface="Maiandra GD" panose="020E0502030308020204" pitchFamily="34" charset="0"/>
                <a:ea typeface="Calibri Light" pitchFamily="34" charset="-122"/>
                <a:cs typeface="Calibri Light" pitchFamily="34" charset="-120"/>
              </a:rPr>
              <a:t>MediCare — Online Medication and Prescription Tracker</a:t>
            </a:r>
            <a:endParaRPr lang="en-US" sz="2800" dirty="0">
              <a:solidFill>
                <a:schemeClr val="accent4">
                  <a:lumMod val="50000"/>
                </a:schemeClr>
              </a:solidFill>
              <a:latin typeface="Maiandra GD" panose="020E0502030308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4096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763</Words>
  <Application>Microsoft Office PowerPoint</Application>
  <PresentationFormat>Custom</PresentationFormat>
  <Paragraphs>179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Calibri Light</vt:lpstr>
      <vt:lpstr>Maiandra GD</vt:lpstr>
      <vt:lpstr>Tahoma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Bhavana Bunny</dc:creator>
  <cp:keywords>DAHFtM5tqdQ,BAGxXKh-dVY,0</cp:keywords>
  <cp:lastModifiedBy>sathwikteju10@outlook.com</cp:lastModifiedBy>
  <cp:revision>4</cp:revision>
  <dcterms:created xsi:type="dcterms:W3CDTF">2026-04-02T12:50:52Z</dcterms:created>
  <dcterms:modified xsi:type="dcterms:W3CDTF">2026-04-14T10:32:29Z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2026-04-02T00:00:00Z</vt:filetime>
  </property>
  <property fmtid="{D5CDD505-2E9C-101B-9397-08002B2CF9AE}" pid="3" name="Creator">
    <vt:lpwstr>Canva</vt:lpwstr>
  </property>
  <property fmtid="{D5CDD505-2E9C-101B-9397-08002B2CF9AE}" pid="4" name="LastSaved">
    <vt:filetime>2026-04-02T00:00:00Z</vt:filetime>
  </property>
  <property fmtid="{D5CDD505-2E9C-101B-9397-08002B2CF9AE}" pid="5" name="Producer">
    <vt:lpwstr>Canva</vt:lpwstr>
  </property>
</Properties>
</file>