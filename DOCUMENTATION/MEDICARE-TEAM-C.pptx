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7" r:id="rId6"/>
    <p:sldId id="268" r:id="rId7"/>
    <p:sldId id="261" r:id="rId8"/>
    <p:sldId id="262" r:id="rId9"/>
    <p:sldId id="263" r:id="rId10"/>
    <p:sldId id="264" r:id="rId11"/>
    <p:sldId id="265" r:id="rId12"/>
    <p:sldId id="257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46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665A-AFB3-1BB7-3440-079F1C30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5EF4C-13F7-AB29-AFC2-35E529753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2AB75-9087-395F-E8E4-4622A85F8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3B52-6356-0B49-40BD-1668397B3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1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4172-2117-4BAC-4EE9-39CE3F9E9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AEFDC-0F38-8B5B-0363-77E93D0D8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03CF9-D05F-1F48-7857-5F246FDCE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09ECD-F6B0-2DB7-0A05-177BD910D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7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</a:rPr>
              <a:t>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kern="0" spc="800" dirty="0">
                <a:solidFill>
                  <a:srgbClr val="FFFFFF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MEDICARE</a:t>
            </a:r>
            <a:endParaRPr lang="en-US" sz="96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59431" y="2401088"/>
            <a:ext cx="54864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69369" y="2395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kern="0" spc="20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Online Medication and Prescription Tracker</a:t>
            </a:r>
            <a:endParaRPr lang="en-US" sz="1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3148689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smart platform connecting Doctors, Patients, Staff &amp; Admins for seamless prescription</a:t>
            </a:r>
            <a:endParaRPr lang="en-US" sz="12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management and real-time medication adherence tracking</a:t>
            </a:r>
            <a:endParaRPr lang="en-US" sz="12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Patients forget to take medicines on time — leading to poor health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2316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514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Doctors have no real-time visibility into whether patients follow prescriptions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52044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prescriptions are easily lost, misread or forgotten entirely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2588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live communication channel between doctor, patient and caretaker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2316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514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Hospital staff waste time manually tracking patient medication schedules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4114800" cy="91440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520440"/>
            <a:ext cx="36576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centralized system to monitor and report adherence across all patients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-69367"/>
            <a:ext cx="513009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 &amp;</a:t>
            </a:r>
            <a:r>
              <a:rPr lang="en-US" sz="2800" dirty="0"/>
              <a:t> </a:t>
            </a:r>
            <a:r>
              <a:rPr lang="en-US" sz="28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81060" y="845033"/>
            <a:ext cx="69273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MediCare is a role-based digital health platform built to solve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medication non-adherence through smart automation and AI.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 doctors to issue digital prescriptions with precise per-slot timing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44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Allow patients to track and mark daily medicine intake in real time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0965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Auto-classify medicine status: On Time, Late or Missed — by clock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470916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933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37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 hospital staff a live dashboard to monitor all patients per shift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44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 admins full control over user management and approvals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365760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0965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840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 an AI chatbot using patient's real prescription data from DB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4709160"/>
            <a:ext cx="4114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4747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71600" y="1078992"/>
            <a:ext cx="6400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613443"/>
            <a:ext cx="2016252" cy="292607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" y="1623297"/>
            <a:ext cx="201168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" y="1787494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" y="2216002"/>
            <a:ext cx="1828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02191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Digital prescriptions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" y="2932070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Per-slot meal &amp; time settings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" y="340141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Accept patient requests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" y="3869803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Track adherence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96311" y="1613443"/>
            <a:ext cx="1911097" cy="292607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0" y="1617547"/>
            <a:ext cx="1911097" cy="6061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50008" y="1790414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41511" y="2224832"/>
            <a:ext cx="1620695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4892" y="2405975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Today's medicine schedule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1468" y="2927341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Mark taken (auto On Time/Late)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92324" y="342884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AI chatbot queries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2606" y="3869803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Prescription 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45735" y="1613442"/>
            <a:ext cx="1833371" cy="292607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1163" y="1623297"/>
            <a:ext cx="1837944" cy="58963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45151" y="1787494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4942489" y="2209066"/>
            <a:ext cx="1435293" cy="6936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5182" y="2461625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Monitor all patients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8606" y="298094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Mark medicines per shift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340141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Live shift-based 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04304" y="1623926"/>
            <a:ext cx="1856232" cy="2915593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3448" y="1623298"/>
            <a:ext cx="184708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90004" y="1795929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7132320" y="2211862"/>
            <a:ext cx="1551327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09460" y="2461625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Approve/reject doctors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09460" y="298094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Activate/deactivate users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70598" y="340141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System-wide stats &amp; charts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6C24D-0FB0-5D41-BD4E-9D14370F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6DAADA-237B-9241-15D8-8E74C6DE4007}"/>
              </a:ext>
            </a:extLst>
          </p:cNvPr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E816D3-941D-7ECB-EE28-86880E4E4657}"/>
              </a:ext>
            </a:extLst>
          </p:cNvPr>
          <p:cNvSpPr/>
          <p:nvPr/>
        </p:nvSpPr>
        <p:spPr>
          <a:xfrm>
            <a:off x="201168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2EAE7EC-14A8-9A85-5607-A30D25FB5B53}"/>
              </a:ext>
            </a:extLst>
          </p:cNvPr>
          <p:cNvSpPr/>
          <p:nvPr/>
        </p:nvSpPr>
        <p:spPr>
          <a:xfrm>
            <a:off x="2468880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D268E5-E133-5340-1C62-DB7D3B5AF609}"/>
              </a:ext>
            </a:extLst>
          </p:cNvPr>
          <p:cNvSpPr/>
          <p:nvPr/>
        </p:nvSpPr>
        <p:spPr>
          <a:xfrm>
            <a:off x="6197425" y="2894488"/>
            <a:ext cx="24174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03A0A2-5906-B37B-3A33-3E14DDAE48CC}"/>
              </a:ext>
            </a:extLst>
          </p:cNvPr>
          <p:cNvSpPr/>
          <p:nvPr/>
        </p:nvSpPr>
        <p:spPr>
          <a:xfrm>
            <a:off x="4736592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76EC8FA-4477-77B4-9283-A66371503C02}"/>
              </a:ext>
            </a:extLst>
          </p:cNvPr>
          <p:cNvSpPr/>
          <p:nvPr/>
        </p:nvSpPr>
        <p:spPr>
          <a:xfrm>
            <a:off x="7004304" y="1298448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4766000-F984-AF4C-11BA-405135CA0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432" y="322738"/>
            <a:ext cx="4969591" cy="224901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CD2BFD6-1524-B5EE-3D06-C57C7D444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29" y="2731358"/>
            <a:ext cx="5089109" cy="2276567"/>
          </a:xfrm>
          <a:prstGeom prst="rect">
            <a:avLst/>
          </a:prstGeom>
        </p:spPr>
      </p:pic>
      <p:sp>
        <p:nvSpPr>
          <p:cNvPr id="45" name="Shape 4">
            <a:extLst>
              <a:ext uri="{FF2B5EF4-FFF2-40B4-BE49-F238E27FC236}">
                <a16:creationId xmlns:a16="http://schemas.microsoft.com/office/drawing/2014/main" id="{6651874B-9F51-3FA3-7005-9EBC37057053}"/>
              </a:ext>
            </a:extLst>
          </p:cNvPr>
          <p:cNvSpPr/>
          <p:nvPr/>
        </p:nvSpPr>
        <p:spPr>
          <a:xfrm>
            <a:off x="1387682" y="322737"/>
            <a:ext cx="2033750" cy="224901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8FB7CF-054F-E513-9EF5-12ECD26A1A40}"/>
              </a:ext>
            </a:extLst>
          </p:cNvPr>
          <p:cNvSpPr txBox="1"/>
          <p:nvPr/>
        </p:nvSpPr>
        <p:spPr>
          <a:xfrm>
            <a:off x="1561417" y="875769"/>
            <a:ext cx="1786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Issue prescriptions, accept patients, track and monitor medication adherence.</a:t>
            </a:r>
            <a:endParaRPr lang="en-IN" dirty="0">
              <a:solidFill>
                <a:schemeClr val="bg1">
                  <a:lumMod val="65000"/>
                </a:scheme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2FD7CA-6001-BC59-0D37-89031D98CBB1}"/>
              </a:ext>
            </a:extLst>
          </p:cNvPr>
          <p:cNvSpPr txBox="1"/>
          <p:nvPr/>
        </p:nvSpPr>
        <p:spPr>
          <a:xfrm>
            <a:off x="1431116" y="460754"/>
            <a:ext cx="185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</a:t>
            </a: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047F3DE1-6B98-7702-39FA-56743E599E6B}"/>
              </a:ext>
            </a:extLst>
          </p:cNvPr>
          <p:cNvSpPr/>
          <p:nvPr/>
        </p:nvSpPr>
        <p:spPr>
          <a:xfrm>
            <a:off x="6074138" y="2745135"/>
            <a:ext cx="2033750" cy="224901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77EEF8-71AD-0F3A-E740-1144AA21D5C2}"/>
              </a:ext>
            </a:extLst>
          </p:cNvPr>
          <p:cNvSpPr txBox="1"/>
          <p:nvPr/>
        </p:nvSpPr>
        <p:spPr>
          <a:xfrm>
            <a:off x="6116390" y="2955077"/>
            <a:ext cx="18924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200" dirty="0"/>
          </a:p>
          <a:p>
            <a:pPr algn="ctr"/>
            <a:endParaRPr lang="en-IN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5F9D44-0F96-DFED-A420-9BEDC8E8B203}"/>
              </a:ext>
            </a:extLst>
          </p:cNvPr>
          <p:cNvSpPr txBox="1"/>
          <p:nvPr/>
        </p:nvSpPr>
        <p:spPr>
          <a:xfrm>
            <a:off x="6344042" y="3490404"/>
            <a:ext cx="1590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View daily schedule, mark medicines, chat with AI assistant.</a:t>
            </a:r>
            <a:endParaRPr lang="en-IN" dirty="0">
              <a:solidFill>
                <a:schemeClr val="bg1">
                  <a:lumMod val="65000"/>
                </a:scheme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E5A25F-ED8B-ED2E-413F-3B6C63677DFD}"/>
              </a:ext>
            </a:extLst>
          </p:cNvPr>
          <p:cNvSpPr txBox="1"/>
          <p:nvPr/>
        </p:nvSpPr>
        <p:spPr>
          <a:xfrm>
            <a:off x="-1548159" y="4492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177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56D80-21A9-F34A-6016-E55A78AE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C246157-C91C-B267-81D1-D97FEF9C6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863" y="236117"/>
            <a:ext cx="5095415" cy="221453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CF30115-7FDD-3616-A84B-F949D9EAE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298" y="2776187"/>
            <a:ext cx="5139559" cy="2035585"/>
          </a:xfrm>
          <a:prstGeom prst="rect">
            <a:avLst/>
          </a:prstGeom>
        </p:spPr>
      </p:pic>
      <p:sp>
        <p:nvSpPr>
          <p:cNvPr id="44" name="Shape 4">
            <a:extLst>
              <a:ext uri="{FF2B5EF4-FFF2-40B4-BE49-F238E27FC236}">
                <a16:creationId xmlns:a16="http://schemas.microsoft.com/office/drawing/2014/main" id="{6EB4CBF0-E1CB-2ACE-17B1-A31718418E67}"/>
              </a:ext>
            </a:extLst>
          </p:cNvPr>
          <p:cNvSpPr/>
          <p:nvPr/>
        </p:nvSpPr>
        <p:spPr>
          <a:xfrm>
            <a:off x="1502611" y="236118"/>
            <a:ext cx="2016252" cy="221453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A731DCAE-EB9D-95C6-725E-5E3F9B8AE100}"/>
              </a:ext>
            </a:extLst>
          </p:cNvPr>
          <p:cNvSpPr/>
          <p:nvPr/>
        </p:nvSpPr>
        <p:spPr>
          <a:xfrm>
            <a:off x="6154857" y="2776186"/>
            <a:ext cx="2016252" cy="2035585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6AB9E1-5E0D-E5F2-DE46-9ECA88B4FEDC}"/>
              </a:ext>
            </a:extLst>
          </p:cNvPr>
          <p:cNvSpPr txBox="1"/>
          <p:nvPr/>
        </p:nvSpPr>
        <p:spPr>
          <a:xfrm>
            <a:off x="1622429" y="460352"/>
            <a:ext cx="1782923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</a:t>
            </a:r>
            <a:endParaRPr lang="en-US" sz="1200" dirty="0"/>
          </a:p>
          <a:p>
            <a:pPr algn="ctr"/>
            <a:endParaRPr lang="en-IN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B413EF-49C1-AE3E-CF15-1047325DC56E}"/>
              </a:ext>
            </a:extLst>
          </p:cNvPr>
          <p:cNvSpPr txBox="1"/>
          <p:nvPr/>
        </p:nvSpPr>
        <p:spPr>
          <a:xfrm>
            <a:off x="1677451" y="990074"/>
            <a:ext cx="1595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Monitor all patients live, mark medicines every shift.</a:t>
            </a:r>
            <a:endParaRPr lang="en-IN" dirty="0">
              <a:solidFill>
                <a:schemeClr val="bg1">
                  <a:lumMod val="65000"/>
                </a:scheme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2401F7-E430-87BD-39FF-45EF0C47B460}"/>
              </a:ext>
            </a:extLst>
          </p:cNvPr>
          <p:cNvSpPr txBox="1"/>
          <p:nvPr/>
        </p:nvSpPr>
        <p:spPr>
          <a:xfrm>
            <a:off x="6274678" y="2919775"/>
            <a:ext cx="185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D0B897-E760-5C52-27C7-830CAA342BDB}"/>
              </a:ext>
            </a:extLst>
          </p:cNvPr>
          <p:cNvSpPr txBox="1"/>
          <p:nvPr/>
        </p:nvSpPr>
        <p:spPr>
          <a:xfrm>
            <a:off x="6334587" y="3490136"/>
            <a:ext cx="1734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Approve doctors, manage all users, deactivate accounts, view stats.</a:t>
            </a:r>
            <a:endParaRPr lang="en-IN" dirty="0">
              <a:solidFill>
                <a:schemeClr val="bg1">
                  <a:lumMod val="65000"/>
                </a:scheme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12A07D-D130-C2A3-A012-72778977CD91}"/>
              </a:ext>
            </a:extLst>
          </p:cNvPr>
          <p:cNvSpPr txBox="1"/>
          <p:nvPr/>
        </p:nvSpPr>
        <p:spPr>
          <a:xfrm>
            <a:off x="529722" y="348860"/>
            <a:ext cx="50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✦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532848-71CC-62D3-BA3E-D128024DDEE1}"/>
              </a:ext>
            </a:extLst>
          </p:cNvPr>
          <p:cNvSpPr txBox="1"/>
          <p:nvPr/>
        </p:nvSpPr>
        <p:spPr>
          <a:xfrm>
            <a:off x="294816" y="118027"/>
            <a:ext cx="46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3665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32004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2633472" cy="126187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6334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43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 UI  ·  Recharts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41248" y="2148840"/>
            <a:ext cx="1499616" cy="274320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488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33472" cy="126187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43000"/>
            <a:ext cx="26334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43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 17  ·  JPA  ·  JWT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13048" y="2148840"/>
            <a:ext cx="1499616" cy="274320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21488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8321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143000"/>
            <a:ext cx="2633472" cy="126187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143000"/>
            <a:ext cx="26334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243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FastAPI  ·  Groq LLM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84848" y="2148840"/>
            <a:ext cx="1499616" cy="274320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1488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52344" y="157734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907792" y="1764792"/>
            <a:ext cx="338328" cy="0"/>
          </a:xfrm>
          <a:prstGeom prst="line">
            <a:avLst/>
          </a:prstGeom>
          <a:noFill/>
          <a:ln w="1016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33288" y="157734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70448" y="1764792"/>
            <a:ext cx="338328" cy="0"/>
          </a:xfrm>
          <a:prstGeom prst="line">
            <a:avLst/>
          </a:prstGeom>
          <a:noFill/>
          <a:ln w="10160">
            <a:solidFill>
              <a:schemeClr val="bg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670048"/>
            <a:ext cx="2011680" cy="89611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7432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BCrypt · Role guard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0" y="2670048"/>
            <a:ext cx="3749040" cy="89611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71216" y="27432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71216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3306  ·  Auto-created by Hibernate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66560" y="2670048"/>
            <a:ext cx="2011680" cy="89611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27432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94576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 3.1 8B Instant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207008" y="2414016"/>
            <a:ext cx="0" cy="256032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2414016"/>
            <a:ext cx="0" cy="256032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2389422"/>
            <a:ext cx="0" cy="256032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3712464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  —  AUTO-CREATED BY HIBERNATE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4320" y="3977640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776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707524" y="3945794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68780" y="39273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30236" y="3959352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1266" y="396408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964082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9684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49340" y="3977640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0297" y="39684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58094" y="4487970"/>
            <a:ext cx="1225296" cy="21488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0712" y="4468342"/>
            <a:ext cx="1115568" cy="24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medication_tracking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44084" y="4493803"/>
            <a:ext cx="905256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89220" y="4480245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19356" y="3968654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2544" y="3941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TIME-BASED TRACKING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77840" y="457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 is auto-calculated by comparing the current clock 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against the doctor-set slot window. No manual configuration needed.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719072"/>
            <a:ext cx="1463040" cy="244144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83664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UPCOMING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50592"/>
            <a:ext cx="1217098" cy="11666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450593"/>
            <a:ext cx="1536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Slot has not opened yet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 Taken button hidden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719071"/>
            <a:ext cx="1499616" cy="2441445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933167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37804" y="2450592"/>
            <a:ext cx="12089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450592"/>
            <a:ext cx="1536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Slot is active right now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 Taken button shown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67328" y="1719072"/>
            <a:ext cx="1499616" cy="2441444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904473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V="1">
            <a:off x="3950208" y="2407393"/>
            <a:ext cx="1195656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2462258"/>
            <a:ext cx="1536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Medicine marked within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slot window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13832" y="1719072"/>
            <a:ext cx="1609344" cy="2441444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9100" y="186994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86984" y="2436087"/>
            <a:ext cx="14630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472269"/>
            <a:ext cx="1536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Marked after the 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 already closed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719072"/>
            <a:ext cx="1609344" cy="244144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1883664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9792" y="2450592"/>
            <a:ext cx="14630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587752"/>
            <a:ext cx="1536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 passed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marked — auto-set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34765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statuses are driven entirely by the backend — the frontend just displays them.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MEDICATION ASSISTANT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asks a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the floating chat button on the Patient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4114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568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real prescriptions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3225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Fetches actual medicine data directly from MySQL for that patient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4114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614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generates answer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127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 3.1 8B Instant — fast, accurate, context-aware response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411480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saved to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conversation history stored in chat_history 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152144"/>
            <a:ext cx="3749040" cy="354787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152144"/>
            <a:ext cx="37490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261872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38928" y="1682496"/>
            <a:ext cx="3529584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828800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Medication schedule &amp; timing queries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304288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Dosage information and instructions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2779776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Side effects awareness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3255264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Drug interaction checks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3730752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Refill reminder guidance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4206240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Never diagnoses — always ends with: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"Please consult your doctor"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38928" y="482803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Groq API  ·  Llama 3.1 8B Instant  ·  Python FastAPI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573" y="11366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69181" y="205101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981" y="323973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83581" y="1009773"/>
            <a:ext cx="6400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1842" y="1170432"/>
            <a:ext cx="1976365" cy="279870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1841" y="1174365"/>
            <a:ext cx="1976365" cy="4571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59280" y="1304483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-35158" y="1444426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1050" y="1896426"/>
            <a:ext cx="1789387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16082" y="200784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599" y="2353173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 UI v5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-35158" y="2670617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-126758" y="297004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Axios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202" y="327322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Router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893" y="4484493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4623" y="1179257"/>
            <a:ext cx="1990872" cy="278105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3901" y="1174365"/>
            <a:ext cx="19908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8957" y="1247517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14313" y="1427592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3787" y="1884487"/>
            <a:ext cx="1816819" cy="9459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20052" y="1931139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Boot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77530" y="222091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 17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51899" y="257137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13907" y="285482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15522" y="325645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31837" y="4484493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57209" y="1174365"/>
            <a:ext cx="1978411" cy="2781052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4658233" y="1187016"/>
            <a:ext cx="1976365" cy="6447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9901" y="1247517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359639" y="143886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4768437" y="1897130"/>
            <a:ext cx="1776140" cy="4423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0532" y="19349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05436" y="2260991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Hibernate 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45510" y="2588218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 DDL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56546" y="2932877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Tables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30532" y="326539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DB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0555" y="4201198"/>
            <a:ext cx="8631936" cy="595624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139527" y="4298524"/>
            <a:ext cx="8631936" cy="362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SERVICE  </a:t>
            </a:r>
            <a:r>
              <a:rPr lang="en-US" sz="12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Python  ·  FastAPI  ·  Groq API  ·  Llama 3.1 8B Instant  ·  mysql-connector-python  ·  python-dotenv</a:t>
            </a:r>
            <a:endParaRPr lang="en-US" sz="12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38676D15-8D33-BD0D-2421-C642FB3461C7}"/>
              </a:ext>
            </a:extLst>
          </p:cNvPr>
          <p:cNvSpPr/>
          <p:nvPr/>
        </p:nvSpPr>
        <p:spPr>
          <a:xfrm>
            <a:off x="290556" y="4195815"/>
            <a:ext cx="8631936" cy="85937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7C292603-AA3D-C1C7-C169-A4EC0DD347A5}"/>
              </a:ext>
            </a:extLst>
          </p:cNvPr>
          <p:cNvSpPr/>
          <p:nvPr/>
        </p:nvSpPr>
        <p:spPr>
          <a:xfrm>
            <a:off x="6784539" y="1179257"/>
            <a:ext cx="1978411" cy="277615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A78B9805-8B44-0FF9-A98E-D3A0623F57F2}"/>
              </a:ext>
            </a:extLst>
          </p:cNvPr>
          <p:cNvSpPr/>
          <p:nvPr/>
        </p:nvSpPr>
        <p:spPr>
          <a:xfrm>
            <a:off x="6796198" y="1175404"/>
            <a:ext cx="1976365" cy="6447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415F0B-EFD0-B1B6-C621-0019C6B905E3}"/>
              </a:ext>
            </a:extLst>
          </p:cNvPr>
          <p:cNvSpPr txBox="1"/>
          <p:nvPr/>
        </p:nvSpPr>
        <p:spPr>
          <a:xfrm>
            <a:off x="6947540" y="1466556"/>
            <a:ext cx="1708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2FF2EC50-6B99-79AE-1FDA-1E2C1CDF7313}"/>
              </a:ext>
            </a:extLst>
          </p:cNvPr>
          <p:cNvSpPr/>
          <p:nvPr/>
        </p:nvSpPr>
        <p:spPr>
          <a:xfrm flipV="1">
            <a:off x="6878646" y="1892003"/>
            <a:ext cx="1776140" cy="4423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588C7A-219A-777A-6C34-DD1FFB2E0CF5}"/>
              </a:ext>
            </a:extLst>
          </p:cNvPr>
          <p:cNvSpPr txBox="1"/>
          <p:nvPr/>
        </p:nvSpPr>
        <p:spPr>
          <a:xfrm>
            <a:off x="7224709" y="1980120"/>
            <a:ext cx="1546754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Jest</a:t>
            </a:r>
          </a:p>
          <a:p>
            <a:pPr algn="just">
              <a:lnSpc>
                <a:spcPct val="150000"/>
              </a:lnSpc>
            </a:pP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PyTest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Postman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Swagger UI</a:t>
            </a:r>
          </a:p>
          <a:p>
            <a:pPr algn="just">
              <a:lnSpc>
                <a:spcPct val="150000"/>
              </a:lnSpc>
            </a:pP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Selinium</a:t>
            </a:r>
            <a:endParaRPr lang="en-IN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783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65698" y="4679266"/>
            <a:ext cx="407964" cy="334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66666"/>
                </a:solidFill>
              </a:rPr>
              <a:t>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347472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71600" y="1042416"/>
            <a:ext cx="6400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157276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Directly addresses medication non-adherence — one of healthcare's biggest problems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57276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533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roles, 1 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783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Admin, Doctor, Patient and Staff all connected in one seamless 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57276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90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520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auto-classifies every dose — accurate adherence reporting with zero manual 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7276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90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35204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Personalized medication chatbot using real prescription data — not generic advice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PHASE  →  Email reminders  ·  Mobile application  ·  Teleconsultation module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BBE5A-67E2-0EB5-2E82-CDF00B0FAAF3}"/>
              </a:ext>
            </a:extLst>
          </p:cNvPr>
          <p:cNvSpPr txBox="1"/>
          <p:nvPr/>
        </p:nvSpPr>
        <p:spPr>
          <a:xfrm>
            <a:off x="2444262" y="5384691"/>
            <a:ext cx="46212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Engravers MT" panose="02090707080505020304" pitchFamily="18" charset="0"/>
                <a:ea typeface="Calibri Light" pitchFamily="34" charset="-122"/>
                <a:cs typeface="Calibri Light" pitchFamily="34" charset="-120"/>
              </a:rPr>
              <a:t>THANK</a:t>
            </a:r>
          </a:p>
          <a:p>
            <a:pPr marL="0" indent="0" algn="ctr">
              <a:buNone/>
            </a:pPr>
            <a:r>
              <a:rPr lang="en-US" sz="6600" dirty="0">
                <a:solidFill>
                  <a:srgbClr val="FFFFFF"/>
                </a:solidFill>
                <a:latin typeface="Engravers MT" panose="02090707080505020304" pitchFamily="18" charset="0"/>
                <a:ea typeface="Calibri Light" pitchFamily="34" charset="-122"/>
                <a:cs typeface="Calibri Light" pitchFamily="34" charset="-120"/>
              </a:rPr>
              <a:t>YOU</a:t>
            </a:r>
            <a:endParaRPr lang="en-US" sz="6600" dirty="0">
              <a:latin typeface="Engravers MT" panose="020907070805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✦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799827" y="98704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666666"/>
                </a:solidFill>
              </a:rPr>
              <a:t>✦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9" y="411480"/>
            <a:ext cx="818703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TEAM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252426" cy="112014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28451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845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 Maruthi Sreeram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52387" y="1508759"/>
            <a:ext cx="3252425" cy="112014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3511" y="1687067"/>
            <a:ext cx="26589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53511" y="2068830"/>
            <a:ext cx="26589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 Namitha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3252426" cy="112013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94360" y="3227832"/>
            <a:ext cx="28451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845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 Pramodhini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59414" y="3051815"/>
            <a:ext cx="3252425" cy="112013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9827" y="3131820"/>
            <a:ext cx="26126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99827" y="3561746"/>
            <a:ext cx="26126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 Sathwik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3193" y="4408669"/>
            <a:ext cx="8321040" cy="0"/>
          </a:xfrm>
          <a:prstGeom prst="line">
            <a:avLst/>
          </a:prstGeom>
          <a:noFill/>
          <a:ln w="762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1" y="4467948"/>
            <a:ext cx="78110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MENTOR :  Vinay Prashant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1014" y="809244"/>
            <a:ext cx="7315200" cy="3474720"/>
          </a:xfrm>
          <a:prstGeom prst="ellipse">
            <a:avLst/>
          </a:prstGeom>
          <a:solidFill>
            <a:srgbClr val="000000">
              <a:alpha val="0"/>
            </a:srgbClr>
          </a:solidFill>
          <a:ln w="1016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0922" y="1192237"/>
            <a:ext cx="780758" cy="80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</a:rPr>
              <a:t>✦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83780" y="326194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FFFFF"/>
                </a:solidFill>
              </a:rPr>
              <a:t>✦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1062112"/>
            <a:ext cx="9144000" cy="254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Engravers MT" panose="02090707080505020304" pitchFamily="18" charset="0"/>
                <a:ea typeface="Calibri Light" pitchFamily="34" charset="-122"/>
                <a:cs typeface="Calibri Light" pitchFamily="34" charset="-120"/>
              </a:rPr>
              <a:t>THANK</a:t>
            </a:r>
          </a:p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Engravers MT" panose="02090707080505020304" pitchFamily="18" charset="0"/>
                <a:ea typeface="Calibri Light" pitchFamily="34" charset="-122"/>
                <a:cs typeface="Calibri Light" pitchFamily="34" charset="-120"/>
              </a:rPr>
              <a:t>YOU</a:t>
            </a:r>
            <a:endParaRPr lang="en-US" sz="7200" dirty="0">
              <a:latin typeface="Engravers MT" panose="020907070805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22402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2011680" y="3611880"/>
            <a:ext cx="512064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6614" y="36194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chemeClr val="bg1"/>
                </a:solidFill>
                <a:latin typeface="Maiandra GD" panose="020E0502030308020204" pitchFamily="34" charset="0"/>
                <a:ea typeface="Calibri Light" pitchFamily="34" charset="-122"/>
                <a:cs typeface="Calibri Light" pitchFamily="34" charset="-120"/>
              </a:rPr>
              <a:t>MediCare — Online Medication and Prescription Tracker</a:t>
            </a:r>
            <a:endParaRPr lang="en-US" sz="1150"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0" y="486390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 Namitha  ·  P Maruthi Sreeram  ·  B Pramodhini  ·  S Sathwik  |  </a:t>
            </a:r>
            <a:r>
              <a:rPr lang="en-US" sz="1200" b="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Mentor</a:t>
            </a:r>
            <a:r>
              <a:rPr lang="en-US" sz="12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Vinay Prashant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793</Words>
  <Application>Microsoft Office PowerPoint</Application>
  <PresentationFormat>On-screen Show (16:9)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Engravers MT</vt:lpstr>
      <vt:lpstr>Maiandra GD</vt:lpstr>
      <vt:lpstr>Microsoft Himalaya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— Online Medication &amp; Prescription Tracker</dc:title>
  <dc:subject>PptxGenJS Presentation</dc:subject>
  <dc:creator>PptxGenJS</dc:creator>
  <cp:lastModifiedBy>sreeram maruthi</cp:lastModifiedBy>
  <cp:revision>7</cp:revision>
  <dcterms:created xsi:type="dcterms:W3CDTF">2026-03-22T08:08:20Z</dcterms:created>
  <dcterms:modified xsi:type="dcterms:W3CDTF">2026-03-26T09:22:19Z</dcterms:modified>
</cp:coreProperties>
</file>