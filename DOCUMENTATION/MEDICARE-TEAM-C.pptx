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7" r:id="rId7"/>
    <p:sldId id="268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7465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0665A-AFB3-1BB7-3440-079F1C304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95EF4C-13F7-AB29-AFC2-35E5297537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D2AB75-9087-395F-E8E4-4622A85F8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73B52-6356-0B49-40BD-1668397B33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6102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D4172-2117-4BAC-4EE9-39CE3F9E9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CAEFDC-0F38-8B5B-0363-77E93D0D85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E03CF9-D05F-1F48-7857-5F246FDCE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09ECD-F6B0-2DB7-0A05-177BD910D0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6729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1097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FFFF"/>
                </a:solidFill>
              </a:rPr>
              <a:t>✦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412480" y="4389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888888"/>
                </a:solidFill>
              </a:rPr>
              <a:t>✦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1280160"/>
            <a:ext cx="9144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kern="0" spc="800" dirty="0">
                <a:solidFill>
                  <a:srgbClr val="FFFFFF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MEDICARE</a:t>
            </a:r>
            <a:endParaRPr lang="en-US" sz="9600" dirty="0">
              <a:latin typeface="Microsoft Himalaya" panose="01010100010101010101" pitchFamily="2" charset="0"/>
              <a:ea typeface="Microsoft Himalaya" panose="01010100010101010101" pitchFamily="2" charset="0"/>
              <a:cs typeface="Microsoft Himalaya" panose="01010100010101010101" pitchFamily="2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759431" y="2401088"/>
            <a:ext cx="5486400" cy="0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-69369" y="2395728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kern="0" spc="200" dirty="0">
                <a:solidFill>
                  <a:schemeClr val="bg1">
                    <a:lumMod val="95000"/>
                  </a:scheme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Online Medication and Prescription Tracker</a:t>
            </a:r>
            <a:endParaRPr lang="en-US" sz="17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713232" y="3148689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4">
                    <a:lumMod val="20000"/>
                    <a:lumOff val="80000"/>
                  </a:scheme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smart platform connecting Doctors, Patients, Staff &amp; Admins for seamless prescription</a:t>
            </a:r>
            <a:endParaRPr lang="en-US" sz="1200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chemeClr val="accent4">
                    <a:lumMod val="20000"/>
                    <a:lumOff val="80000"/>
                  </a:scheme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management and real-time medication adherence tracking</a:t>
            </a:r>
            <a:endParaRPr lang="en-US" sz="1200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320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FFFFFF"/>
                </a:solidFill>
              </a:rPr>
              <a:t>✦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5799827" y="98704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dirty="0">
                <a:solidFill>
                  <a:srgbClr val="666666"/>
                </a:solidFill>
              </a:rPr>
              <a:t>✦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011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199" y="411480"/>
            <a:ext cx="8187033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kern="0" spc="4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MY TEAM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411480" y="1508760"/>
            <a:ext cx="3252426" cy="1120141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594360" y="1673352"/>
            <a:ext cx="28451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057400"/>
            <a:ext cx="284519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 Maruthi Sreeram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52387" y="1508759"/>
            <a:ext cx="3252425" cy="1120141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2E2E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53511" y="1687067"/>
            <a:ext cx="265896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53511" y="2068830"/>
            <a:ext cx="26589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 Namitha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11480" y="3063240"/>
            <a:ext cx="3252426" cy="1120130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594360" y="3227832"/>
            <a:ext cx="28451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3611880"/>
            <a:ext cx="284519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 Pramodhini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59414" y="3051815"/>
            <a:ext cx="3252425" cy="1120130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2E2E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99827" y="3131820"/>
            <a:ext cx="261265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799827" y="3561746"/>
            <a:ext cx="261265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 Sathwik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23193" y="4408669"/>
            <a:ext cx="8321040" cy="0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1" y="4467948"/>
            <a:ext cx="78110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MENTOR :  Vinay Prashant</a:t>
            </a:r>
            <a:endParaRPr lang="en-US" sz="11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1097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</a:rPr>
              <a:t>✦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kern="0" spc="3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PROBLEM STATEMENT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8229600" cy="0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4114800" cy="914400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325880"/>
            <a:ext cx="36576" cy="91440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41732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Patients forget to take medicines on time — leading to poor health outcomes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2423160"/>
            <a:ext cx="4114800" cy="914400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423160"/>
            <a:ext cx="36576" cy="91440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51460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Doctors have no real-time visibility into whether patients follow prescriptions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3520440"/>
            <a:ext cx="4114800" cy="914400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1480" y="3520440"/>
            <a:ext cx="36576" cy="91440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" y="361188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Paper prescriptions are easily lost, misread or forgotten entirely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325880"/>
            <a:ext cx="4114800" cy="914400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1325880"/>
            <a:ext cx="36576" cy="91440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19472" y="141732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live communication channel between doctor, patient and caretaker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2423160"/>
            <a:ext cx="4114800" cy="914400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54880" y="2423160"/>
            <a:ext cx="36576" cy="91440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19472" y="251460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Hospital staff waste time manually tracking patient medication schedules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3520440"/>
            <a:ext cx="4114800" cy="914400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3520440"/>
            <a:ext cx="36576" cy="91440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19472" y="361188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centralized system to monitor and report adherence across all patients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1097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</a:rPr>
              <a:t>✦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412480" y="4389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66666"/>
                </a:solidFill>
              </a:rPr>
              <a:t>✦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011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-69367"/>
            <a:ext cx="5130099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kern="0" spc="3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OBJECTIVE &amp;</a:t>
            </a:r>
            <a:r>
              <a:rPr lang="en-US" sz="2800" dirty="0"/>
              <a:t> </a:t>
            </a:r>
            <a:r>
              <a:rPr lang="en-US" sz="2800" b="1" kern="0" spc="3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OVERVIEW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381060" y="845033"/>
            <a:ext cx="6927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MediCare is a role-based digital health platform built to solve</a:t>
            </a: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medication non-adherence through smart automation and AI.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0"/>
          </a:xfrm>
          <a:prstGeom prst="line">
            <a:avLst/>
          </a:prstGeom>
          <a:noFill/>
          <a:ln w="7620">
            <a:solidFill>
              <a:schemeClr val="bg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993392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173736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Enable doctors to issue digital prescriptions with precise per-slot timing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411480" y="2606040"/>
            <a:ext cx="4114800" cy="0"/>
          </a:xfrm>
          <a:prstGeom prst="line">
            <a:avLst/>
          </a:prstGeom>
          <a:noFill/>
          <a:ln w="7620">
            <a:solidFill>
              <a:schemeClr val="bg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3044952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278892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Allow patients to track and mark daily medicine intake in real time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11480" y="3657600"/>
            <a:ext cx="4114800" cy="0"/>
          </a:xfrm>
          <a:prstGeom prst="line">
            <a:avLst/>
          </a:prstGeom>
          <a:noFill/>
          <a:ln w="7620">
            <a:solidFill>
              <a:schemeClr val="bg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096512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384048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Auto-classify medicine status: On Time, Late or Missed — by clock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11480" y="4709160"/>
            <a:ext cx="4114800" cy="0"/>
          </a:xfrm>
          <a:prstGeom prst="line">
            <a:avLst/>
          </a:prstGeom>
          <a:noFill/>
          <a:ln w="762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993392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173736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Give hospital staff a live dashboard to monitor all patients per shift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754880" y="2606040"/>
            <a:ext cx="4114800" cy="0"/>
          </a:xfrm>
          <a:prstGeom prst="line">
            <a:avLst/>
          </a:prstGeom>
          <a:noFill/>
          <a:ln w="7620">
            <a:solidFill>
              <a:schemeClr val="bg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044952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0" y="278892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Give admins full control over user management and approvals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754880" y="3657600"/>
            <a:ext cx="4114800" cy="0"/>
          </a:xfrm>
          <a:prstGeom prst="line">
            <a:avLst/>
          </a:prstGeom>
          <a:noFill/>
          <a:ln w="7620">
            <a:solidFill>
              <a:schemeClr val="bg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4096512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384048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Integrate an AI chatbot using patient's real prescription data from DB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754880" y="4709160"/>
            <a:ext cx="4114800" cy="0"/>
          </a:xfrm>
          <a:prstGeom prst="line">
            <a:avLst/>
          </a:prstGeom>
          <a:noFill/>
          <a:ln w="7620">
            <a:solidFill>
              <a:schemeClr val="bg1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1097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</a:rPr>
              <a:t>✦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0" y="347472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kern="0" spc="6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KEY FEATURES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1371600" y="1078992"/>
            <a:ext cx="6400800" cy="0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613443"/>
            <a:ext cx="2016252" cy="2926077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172" y="1623297"/>
            <a:ext cx="2011680" cy="54864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1168" y="1298448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" y="1787494"/>
            <a:ext cx="2121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10896" y="2216002"/>
            <a:ext cx="1828800" cy="0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2402191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Digital prescriptions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4028" y="2932070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Per-slot meal &amp; time settings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4028" y="3401412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Accept patient requests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3464" y="3869803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Track adherence 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496311" y="1613443"/>
            <a:ext cx="1911097" cy="2926077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96310" y="1617547"/>
            <a:ext cx="1911097" cy="60614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1298448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350008" y="1790414"/>
            <a:ext cx="2121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641511" y="2224832"/>
            <a:ext cx="1620695" cy="0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4892" y="2405975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Today's medicine schedule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601468" y="2927341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Mark taken (auto On Time/Late)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92324" y="3428842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AI chatbot queries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562606" y="3869803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Prescription history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45735" y="1613442"/>
            <a:ext cx="1833371" cy="2926078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41163" y="1623297"/>
            <a:ext cx="1837944" cy="58963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36592" y="1298448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645151" y="1787494"/>
            <a:ext cx="2121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 flipV="1">
            <a:off x="4942489" y="2209066"/>
            <a:ext cx="1435293" cy="6936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85182" y="2461625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Monitor all patients live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48606" y="2980944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Mark medicines per shift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37176" y="3401412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Live shift-based 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004304" y="1623926"/>
            <a:ext cx="1856232" cy="2915593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013448" y="1623298"/>
            <a:ext cx="1847088" cy="54864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04304" y="1298448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890004" y="1795929"/>
            <a:ext cx="2121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 flipV="1">
            <a:off x="7132320" y="2211862"/>
            <a:ext cx="1551327" cy="0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09460" y="2461625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Approve/reject doctors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109460" y="2980944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Activate/deactivate users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070598" y="3401412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System-wide stats &amp; charts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96C24D-0FB0-5D41-BD4E-9D14370F7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C6DAADA-237B-9241-15D8-8E74C6DE4007}"/>
              </a:ext>
            </a:extLst>
          </p:cNvPr>
          <p:cNvSpPr/>
          <p:nvPr/>
        </p:nvSpPr>
        <p:spPr>
          <a:xfrm>
            <a:off x="164592" y="1097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</a:rPr>
              <a:t>✦</a:t>
            </a:r>
            <a:endParaRPr lang="en-US" sz="2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6E816D3-941D-7ECB-EE28-86880E4E4657}"/>
              </a:ext>
            </a:extLst>
          </p:cNvPr>
          <p:cNvSpPr/>
          <p:nvPr/>
        </p:nvSpPr>
        <p:spPr>
          <a:xfrm>
            <a:off x="201168" y="1298448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2EAE7EC-14A8-9A85-5607-A30D25FB5B53}"/>
              </a:ext>
            </a:extLst>
          </p:cNvPr>
          <p:cNvSpPr/>
          <p:nvPr/>
        </p:nvSpPr>
        <p:spPr>
          <a:xfrm>
            <a:off x="2468880" y="1298448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7D268E5-E133-5340-1C62-DB7D3B5AF609}"/>
              </a:ext>
            </a:extLst>
          </p:cNvPr>
          <p:cNvSpPr/>
          <p:nvPr/>
        </p:nvSpPr>
        <p:spPr>
          <a:xfrm>
            <a:off x="6197425" y="2894488"/>
            <a:ext cx="24174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A103A0A2-5906-B37B-3A33-3E14DDAE48CC}"/>
              </a:ext>
            </a:extLst>
          </p:cNvPr>
          <p:cNvSpPr/>
          <p:nvPr/>
        </p:nvSpPr>
        <p:spPr>
          <a:xfrm>
            <a:off x="4736592" y="1298448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F76EC8FA-4477-77B4-9283-A66371503C02}"/>
              </a:ext>
            </a:extLst>
          </p:cNvPr>
          <p:cNvSpPr/>
          <p:nvPr/>
        </p:nvSpPr>
        <p:spPr>
          <a:xfrm>
            <a:off x="7004304" y="1298448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4766000-F984-AF4C-11BA-405135CA0D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1432" y="322738"/>
            <a:ext cx="4969591" cy="2249012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FCD2BFD6-1524-B5EE-3D06-C57C7D4442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029" y="2731358"/>
            <a:ext cx="5089109" cy="2276567"/>
          </a:xfrm>
          <a:prstGeom prst="rect">
            <a:avLst/>
          </a:prstGeom>
        </p:spPr>
      </p:pic>
      <p:sp>
        <p:nvSpPr>
          <p:cNvPr id="45" name="Shape 4">
            <a:extLst>
              <a:ext uri="{FF2B5EF4-FFF2-40B4-BE49-F238E27FC236}">
                <a16:creationId xmlns:a16="http://schemas.microsoft.com/office/drawing/2014/main" id="{6651874B-9F51-3FA3-7005-9EBC37057053}"/>
              </a:ext>
            </a:extLst>
          </p:cNvPr>
          <p:cNvSpPr/>
          <p:nvPr/>
        </p:nvSpPr>
        <p:spPr>
          <a:xfrm>
            <a:off x="1387682" y="322737"/>
            <a:ext cx="2033750" cy="2249011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F8FB7CF-054F-E513-9EF5-12ECD26A1A40}"/>
              </a:ext>
            </a:extLst>
          </p:cNvPr>
          <p:cNvSpPr txBox="1"/>
          <p:nvPr/>
        </p:nvSpPr>
        <p:spPr>
          <a:xfrm>
            <a:off x="1561417" y="875769"/>
            <a:ext cx="17868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Issue prescriptions, accept patients, track and monitor medication adherence.</a:t>
            </a:r>
            <a:endParaRPr lang="en-IN" dirty="0">
              <a:solidFill>
                <a:schemeClr val="bg1">
                  <a:lumMod val="65000"/>
                </a:schemeClr>
              </a:solidFill>
              <a:latin typeface="Microsoft Himalaya" panose="01010100010101010101" pitchFamily="2" charset="0"/>
              <a:ea typeface="Microsoft Himalaya" panose="01010100010101010101" pitchFamily="2" charset="0"/>
              <a:cs typeface="Microsoft Himalaya" panose="01010100010101010101" pitchFamily="2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D2FD7CA-6001-BC59-0D37-89031D98CBB1}"/>
              </a:ext>
            </a:extLst>
          </p:cNvPr>
          <p:cNvSpPr txBox="1"/>
          <p:nvPr/>
        </p:nvSpPr>
        <p:spPr>
          <a:xfrm>
            <a:off x="1431116" y="460754"/>
            <a:ext cx="185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kern="0" spc="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</a:t>
            </a: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IN" sz="1200" dirty="0">
              <a:solidFill>
                <a:schemeClr val="bg1"/>
              </a:solidFill>
            </a:endParaRPr>
          </a:p>
        </p:txBody>
      </p:sp>
      <p:sp>
        <p:nvSpPr>
          <p:cNvPr id="49" name="Shape 4">
            <a:extLst>
              <a:ext uri="{FF2B5EF4-FFF2-40B4-BE49-F238E27FC236}">
                <a16:creationId xmlns:a16="http://schemas.microsoft.com/office/drawing/2014/main" id="{047F3DE1-6B98-7702-39FA-56743E599E6B}"/>
              </a:ext>
            </a:extLst>
          </p:cNvPr>
          <p:cNvSpPr/>
          <p:nvPr/>
        </p:nvSpPr>
        <p:spPr>
          <a:xfrm>
            <a:off x="6074138" y="2745135"/>
            <a:ext cx="2033750" cy="2249011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77EEF8-71AD-0F3A-E740-1144AA21D5C2}"/>
              </a:ext>
            </a:extLst>
          </p:cNvPr>
          <p:cNvSpPr txBox="1"/>
          <p:nvPr/>
        </p:nvSpPr>
        <p:spPr>
          <a:xfrm>
            <a:off x="6116390" y="2955077"/>
            <a:ext cx="189249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DASHBOARD</a:t>
            </a:r>
            <a:endParaRPr lang="en-US" sz="1200" dirty="0"/>
          </a:p>
          <a:p>
            <a:pPr algn="ctr"/>
            <a:endParaRPr lang="en-IN" sz="10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15F9D44-0F96-DFED-A420-9BEDC8E8B203}"/>
              </a:ext>
            </a:extLst>
          </p:cNvPr>
          <p:cNvSpPr txBox="1"/>
          <p:nvPr/>
        </p:nvSpPr>
        <p:spPr>
          <a:xfrm>
            <a:off x="6344042" y="3490404"/>
            <a:ext cx="15907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View daily schedule, mark medicines, chat with AI assistant.</a:t>
            </a:r>
            <a:endParaRPr lang="en-IN" dirty="0">
              <a:solidFill>
                <a:schemeClr val="bg1">
                  <a:lumMod val="65000"/>
                </a:schemeClr>
              </a:solidFill>
              <a:latin typeface="Microsoft Himalaya" panose="01010100010101010101" pitchFamily="2" charset="0"/>
              <a:ea typeface="Microsoft Himalaya" panose="01010100010101010101" pitchFamily="2" charset="0"/>
              <a:cs typeface="Microsoft Himalaya" panose="01010100010101010101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6E5A25F-ED8B-ED2E-413F-3B6C63677DFD}"/>
              </a:ext>
            </a:extLst>
          </p:cNvPr>
          <p:cNvSpPr txBox="1"/>
          <p:nvPr/>
        </p:nvSpPr>
        <p:spPr>
          <a:xfrm>
            <a:off x="-1548159" y="44926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7717716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A56D80-21A9-F34A-6016-E55A78AE2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8C246157-C91C-B267-81D1-D97FEF9C6C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8863" y="236117"/>
            <a:ext cx="5095415" cy="221453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DCF30115-7FDD-3616-A84B-F949D9EAE9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298" y="2776187"/>
            <a:ext cx="5139559" cy="2035585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6EB4CBF0-E1CB-2ACE-17B1-A31718418E67}"/>
              </a:ext>
            </a:extLst>
          </p:cNvPr>
          <p:cNvSpPr/>
          <p:nvPr/>
        </p:nvSpPr>
        <p:spPr>
          <a:xfrm>
            <a:off x="1502611" y="236118"/>
            <a:ext cx="2016252" cy="2214530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A731DCAE-EB9D-95C6-725E-5E3F9B8AE100}"/>
              </a:ext>
            </a:extLst>
          </p:cNvPr>
          <p:cNvSpPr/>
          <p:nvPr/>
        </p:nvSpPr>
        <p:spPr>
          <a:xfrm>
            <a:off x="6154857" y="2776186"/>
            <a:ext cx="2016252" cy="2035585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46AB9E1-5E0D-E5F2-DE46-9ECA88B4FEDC}"/>
              </a:ext>
            </a:extLst>
          </p:cNvPr>
          <p:cNvSpPr txBox="1"/>
          <p:nvPr/>
        </p:nvSpPr>
        <p:spPr>
          <a:xfrm>
            <a:off x="1622429" y="460352"/>
            <a:ext cx="1782923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DASHBOARD</a:t>
            </a:r>
            <a:endParaRPr lang="en-US" sz="1200" dirty="0"/>
          </a:p>
          <a:p>
            <a:pPr algn="ctr"/>
            <a:endParaRPr lang="en-IN" sz="105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B413EF-49C1-AE3E-CF15-1047325DC56E}"/>
              </a:ext>
            </a:extLst>
          </p:cNvPr>
          <p:cNvSpPr txBox="1"/>
          <p:nvPr/>
        </p:nvSpPr>
        <p:spPr>
          <a:xfrm>
            <a:off x="1677451" y="990074"/>
            <a:ext cx="15954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Monitor all patients live, mark medicines every shift.</a:t>
            </a:r>
            <a:endParaRPr lang="en-IN" dirty="0">
              <a:solidFill>
                <a:schemeClr val="bg1">
                  <a:lumMod val="65000"/>
                </a:schemeClr>
              </a:solidFill>
              <a:latin typeface="Microsoft Himalaya" panose="01010100010101010101" pitchFamily="2" charset="0"/>
              <a:ea typeface="Microsoft Himalaya" panose="01010100010101010101" pitchFamily="2" charset="0"/>
              <a:cs typeface="Microsoft Himalaya" panose="01010100010101010101" pitchFamily="2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42401F7-E430-87BD-39FF-45EF0C47B460}"/>
              </a:ext>
            </a:extLst>
          </p:cNvPr>
          <p:cNvSpPr txBox="1"/>
          <p:nvPr/>
        </p:nvSpPr>
        <p:spPr>
          <a:xfrm>
            <a:off x="6274678" y="2919775"/>
            <a:ext cx="18540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kern="0" spc="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D0B897-E760-5C52-27C7-830CAA342BDB}"/>
              </a:ext>
            </a:extLst>
          </p:cNvPr>
          <p:cNvSpPr txBox="1"/>
          <p:nvPr/>
        </p:nvSpPr>
        <p:spPr>
          <a:xfrm>
            <a:off x="6334587" y="3490136"/>
            <a:ext cx="17342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Approve doctors, manage all users, deactivate accounts, view stats.</a:t>
            </a:r>
            <a:endParaRPr lang="en-IN" dirty="0">
              <a:solidFill>
                <a:schemeClr val="bg1">
                  <a:lumMod val="65000"/>
                </a:schemeClr>
              </a:solidFill>
              <a:latin typeface="Microsoft Himalaya" panose="01010100010101010101" pitchFamily="2" charset="0"/>
              <a:ea typeface="Microsoft Himalaya" panose="01010100010101010101" pitchFamily="2" charset="0"/>
              <a:cs typeface="Microsoft Himalaya" panose="01010100010101010101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12A07D-D130-C2A3-A012-72778977CD91}"/>
              </a:ext>
            </a:extLst>
          </p:cNvPr>
          <p:cNvSpPr txBox="1"/>
          <p:nvPr/>
        </p:nvSpPr>
        <p:spPr>
          <a:xfrm>
            <a:off x="529722" y="348860"/>
            <a:ext cx="5076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✦</a:t>
            </a:r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9532848-71CC-62D3-BA3E-D128024DDEE1}"/>
              </a:ext>
            </a:extLst>
          </p:cNvPr>
          <p:cNvSpPr txBox="1"/>
          <p:nvPr/>
        </p:nvSpPr>
        <p:spPr>
          <a:xfrm>
            <a:off x="294816" y="118027"/>
            <a:ext cx="4698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</a:rPr>
              <a:t>✦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8836659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1097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</a:rPr>
              <a:t>✦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412480" y="4389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66666"/>
                </a:solidFill>
              </a:rPr>
              <a:t>✦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011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0" y="320040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kern="0" spc="6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SYSTEM ARCHITECTURE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371600" y="1005840"/>
            <a:ext cx="6400800" cy="0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43000"/>
            <a:ext cx="2633472" cy="1261872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A3A3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143000"/>
            <a:ext cx="2633472" cy="54864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24358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4048" y="16276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Material UI  ·  Recharts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41248" y="2148840"/>
            <a:ext cx="1499616" cy="274320"/>
          </a:xfrm>
          <a:prstGeom prst="roundRect">
            <a:avLst>
              <a:gd name="adj" fmla="val 26667"/>
            </a:avLst>
          </a:prstGeom>
          <a:solidFill>
            <a:srgbClr val="1E1E1E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14884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3000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46120" y="1143000"/>
            <a:ext cx="2633472" cy="1261872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A3A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143000"/>
            <a:ext cx="2633472" cy="54864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55848" y="124358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Backend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55848" y="16276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Java 17  ·  JPA  ·  JWT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813048" y="2148840"/>
            <a:ext cx="1499616" cy="274320"/>
          </a:xfrm>
          <a:prstGeom prst="roundRect">
            <a:avLst>
              <a:gd name="adj" fmla="val 26667"/>
            </a:avLst>
          </a:prstGeom>
          <a:solidFill>
            <a:srgbClr val="1E1E1E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13048" y="214884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8321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1143000"/>
            <a:ext cx="2633472" cy="1261872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A3A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1143000"/>
            <a:ext cx="2633472" cy="54864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27648" y="124358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AI Service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27648" y="16276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FastAPI  ·  Groq LLM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784848" y="2148840"/>
            <a:ext cx="1499616" cy="274320"/>
          </a:xfrm>
          <a:prstGeom prst="roundRect">
            <a:avLst>
              <a:gd name="adj" fmla="val 26667"/>
            </a:avLst>
          </a:prstGeom>
          <a:solidFill>
            <a:srgbClr val="1E1E1E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84848" y="214884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8000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52344" y="157734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750" dirty="0">
              <a:solidFill>
                <a:schemeClr val="bg1"/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907792" y="1764792"/>
            <a:ext cx="338328" cy="0"/>
          </a:xfrm>
          <a:prstGeom prst="line">
            <a:avLst/>
          </a:prstGeom>
          <a:noFill/>
          <a:ln w="10160">
            <a:solidFill>
              <a:schemeClr val="bg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33288" y="157734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Query</a:t>
            </a:r>
            <a:endParaRPr lang="en-US" sz="750" dirty="0">
              <a:solidFill>
                <a:schemeClr val="bg1"/>
              </a:solidFill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870448" y="1764792"/>
            <a:ext cx="338328" cy="0"/>
          </a:xfrm>
          <a:prstGeom prst="line">
            <a:avLst/>
          </a:prstGeom>
          <a:noFill/>
          <a:ln w="10160">
            <a:solidFill>
              <a:schemeClr val="bg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2670048"/>
            <a:ext cx="2011680" cy="896112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" y="2743200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02336" y="309067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BCrypt · Role guard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743200" y="2670048"/>
            <a:ext cx="3749040" cy="896112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871216" y="2743200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Database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871216" y="30906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PORT 3306  ·  Auto-created by Hibernate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766560" y="2670048"/>
            <a:ext cx="2011680" cy="896112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94576" y="2743200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LLM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894576" y="309067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Llama 3.1 8B Instant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207008" y="2414016"/>
            <a:ext cx="0" cy="256032"/>
          </a:xfrm>
          <a:prstGeom prst="line">
            <a:avLst/>
          </a:prstGeom>
          <a:noFill/>
          <a:ln w="7620">
            <a:solidFill>
              <a:schemeClr val="bg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657600" y="2414016"/>
            <a:ext cx="0" cy="256032"/>
          </a:xfrm>
          <a:prstGeom prst="line">
            <a:avLst/>
          </a:prstGeom>
          <a:noFill/>
          <a:ln w="7620">
            <a:solidFill>
              <a:schemeClr val="bg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412480" y="2389422"/>
            <a:ext cx="0" cy="256032"/>
          </a:xfrm>
          <a:prstGeom prst="line">
            <a:avLst/>
          </a:prstGeom>
          <a:noFill/>
          <a:ln w="7620">
            <a:solidFill>
              <a:schemeClr val="bg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0" y="3712464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kern="0" spc="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TABLES  —  AUTO-CREATED BY HIBERNATE</a:t>
            </a:r>
            <a:endParaRPr lang="en-US" sz="750" dirty="0">
              <a:solidFill>
                <a:schemeClr val="bg1"/>
              </a:solidFill>
            </a:endParaRPr>
          </a:p>
        </p:txBody>
      </p:sp>
      <p:sp>
        <p:nvSpPr>
          <p:cNvPr id="42" name="Shape 40"/>
          <p:cNvSpPr/>
          <p:nvPr/>
        </p:nvSpPr>
        <p:spPr>
          <a:xfrm>
            <a:off x="274320" y="3977640"/>
            <a:ext cx="960120" cy="237744"/>
          </a:xfrm>
          <a:prstGeom prst="roundRect">
            <a:avLst>
              <a:gd name="adj" fmla="val 30769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4320" y="397764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707524" y="3945794"/>
            <a:ext cx="960120" cy="237744"/>
          </a:xfrm>
          <a:prstGeom prst="roundRect">
            <a:avLst>
              <a:gd name="adj" fmla="val 30769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68780" y="3927348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30236" y="3959352"/>
            <a:ext cx="960120" cy="237744"/>
          </a:xfrm>
          <a:prstGeom prst="roundRect">
            <a:avLst>
              <a:gd name="adj" fmla="val 30769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71266" y="396408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663440" y="3964082"/>
            <a:ext cx="960120" cy="237744"/>
          </a:xfrm>
          <a:prstGeom prst="roundRect">
            <a:avLst>
              <a:gd name="adj" fmla="val 30769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63440" y="396849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149340" y="3977640"/>
            <a:ext cx="960120" cy="237744"/>
          </a:xfrm>
          <a:prstGeom prst="roundRect">
            <a:avLst>
              <a:gd name="adj" fmla="val 30769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60297" y="396849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358094" y="4487970"/>
            <a:ext cx="1225296" cy="214884"/>
          </a:xfrm>
          <a:prstGeom prst="roundRect">
            <a:avLst>
              <a:gd name="adj" fmla="val 30769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10712" y="4468342"/>
            <a:ext cx="1115568" cy="2496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medication_tracking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244084" y="4493803"/>
            <a:ext cx="905256" cy="237744"/>
          </a:xfrm>
          <a:prstGeom prst="roundRect">
            <a:avLst>
              <a:gd name="adj" fmla="val 30769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189220" y="4480245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medicines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7619356" y="3968654"/>
            <a:ext cx="960120" cy="237744"/>
          </a:xfrm>
          <a:prstGeom prst="roundRect">
            <a:avLst>
              <a:gd name="adj" fmla="val 30769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582544" y="394106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chat_history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1097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</a:rPr>
              <a:t>✦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5486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kern="0" spc="3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SMART TIME-BASED TRACKING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577840" y="45720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Status is auto-calculated by comparing the current clock time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against the doctor-set slot window. No manual configuration needed.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042416"/>
            <a:ext cx="8229600" cy="0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" y="1719072"/>
            <a:ext cx="1463040" cy="2441447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1883664"/>
            <a:ext cx="14996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UPCOMING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450592"/>
            <a:ext cx="1217098" cy="11666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2450593"/>
            <a:ext cx="153619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Slot has not opened yet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Mark Taken button hidden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11680" y="1719071"/>
            <a:ext cx="1499616" cy="2441445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11680" y="1933167"/>
            <a:ext cx="14996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137804" y="2450592"/>
            <a:ext cx="1208900" cy="0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11680" y="2450592"/>
            <a:ext cx="153619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Slot is active right now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Mark Taken button shown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67328" y="1719072"/>
            <a:ext cx="1499616" cy="2441444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85616" y="1904473"/>
            <a:ext cx="14996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TIME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3950208" y="2407393"/>
            <a:ext cx="1195656" cy="0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03904" y="2462258"/>
            <a:ext cx="153619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Medicine marked within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slot window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513832" y="1719072"/>
            <a:ext cx="1609344" cy="2441444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49100" y="1869948"/>
            <a:ext cx="14996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586984" y="2436087"/>
            <a:ext cx="1463040" cy="0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87568" y="2472269"/>
            <a:ext cx="153619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Marked after the slot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window already closed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06640" y="1719072"/>
            <a:ext cx="1609344" cy="2441447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61504" y="1883664"/>
            <a:ext cx="14996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479792" y="2450592"/>
            <a:ext cx="1463040" cy="0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0" y="2587752"/>
            <a:ext cx="153619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Window passed and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not marked — auto-set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5760" y="4347653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statuses are driven entirely by the backend — the frontend just displays them.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1097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</a:rPr>
              <a:t>✦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412480" y="4389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66666"/>
                </a:solidFill>
              </a:rPr>
              <a:t>✦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011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5486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kern="0" spc="3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MEDICATION ASSISTANT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042416"/>
            <a:ext cx="8229600" cy="0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52144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152144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asks a question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1517904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Via the floating chat button on the Patient Dashboard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901952"/>
            <a:ext cx="4114800" cy="0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95681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195681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real prescriptions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2322576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Fetches actual medicine data directly from MySQL for that patient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4114800" cy="0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76148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276148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LLM generates answer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" y="3127248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Llama 3.1 8B Instant — fast, accurate, context-aware response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511296"/>
            <a:ext cx="4114800" cy="0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56616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356616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saved to database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" y="3931920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Full conversation history stored in chat_history table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0" y="1152144"/>
            <a:ext cx="3749040" cy="3547872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0" y="1152144"/>
            <a:ext cx="3749040" cy="54864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38928" y="1261872"/>
            <a:ext cx="35295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138928" y="1682496"/>
            <a:ext cx="3529584" cy="0"/>
          </a:xfrm>
          <a:prstGeom prst="line">
            <a:avLst/>
          </a:prstGeom>
          <a:noFill/>
          <a:ln w="7620">
            <a:solidFill>
              <a:srgbClr val="4444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12080" y="1828800"/>
            <a:ext cx="34381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→  Medication schedule &amp; timing queries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212080" y="2304288"/>
            <a:ext cx="34381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→  Dosage information and instructions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212080" y="2779776"/>
            <a:ext cx="34381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→  Side effects awareness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212080" y="3255264"/>
            <a:ext cx="34381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→  Drug interaction checks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212080" y="3730752"/>
            <a:ext cx="34381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→  Refill reminder guidance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212080" y="4206240"/>
            <a:ext cx="34381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→  Never diagnoses — always ends with: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"Please consult your doctor"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138928" y="4828032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Groq API  ·  Llama 3.1 8B Instant  ·  Python FastAPI</a:t>
            </a:r>
            <a:endParaRPr lang="en-US" sz="8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6573" y="113661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</a:rPr>
              <a:t>✦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69181" y="205101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981" y="323973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kern="0" spc="6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TECHNOLOGY STACK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1383581" y="1009773"/>
            <a:ext cx="6400800" cy="0"/>
          </a:xfrm>
          <a:prstGeom prst="line">
            <a:avLst/>
          </a:prstGeom>
          <a:noFill/>
          <a:ln w="7620">
            <a:solidFill>
              <a:schemeClr val="bg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1842" y="1170432"/>
            <a:ext cx="1976365" cy="2798702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1841" y="1174365"/>
            <a:ext cx="1976365" cy="45719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-59280" y="1304483"/>
            <a:ext cx="2670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800" dirty="0">
              <a:solidFill>
                <a:schemeClr val="accent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-35158" y="1444426"/>
            <a:ext cx="2670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81050" y="1896426"/>
            <a:ext cx="1789387" cy="0"/>
          </a:xfrm>
          <a:prstGeom prst="line">
            <a:avLst/>
          </a:prstGeom>
          <a:noFill/>
          <a:ln w="7620">
            <a:solidFill>
              <a:schemeClr val="bg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-16082" y="2007846"/>
            <a:ext cx="23042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React 18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3599" y="2353173"/>
            <a:ext cx="23042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Material UI v5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-35158" y="2670617"/>
            <a:ext cx="23042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Recharts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-126758" y="2970044"/>
            <a:ext cx="23042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Axios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7202" y="3273226"/>
            <a:ext cx="23042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React Router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0893" y="4484493"/>
            <a:ext cx="23042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64623" y="1179257"/>
            <a:ext cx="1990872" cy="2781052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453901" y="1174365"/>
            <a:ext cx="1990872" cy="54864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48957" y="1247517"/>
            <a:ext cx="2670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114313" y="1427592"/>
            <a:ext cx="2670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63787" y="1884487"/>
            <a:ext cx="1816819" cy="9459"/>
          </a:xfrm>
          <a:prstGeom prst="line">
            <a:avLst/>
          </a:prstGeom>
          <a:noFill/>
          <a:ln w="7620">
            <a:solidFill>
              <a:schemeClr val="bg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20052" y="1931139"/>
            <a:ext cx="23042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Spring Boot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77530" y="2220914"/>
            <a:ext cx="23042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Java 17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351899" y="2571370"/>
            <a:ext cx="23042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Spring Data JPA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313907" y="2854826"/>
            <a:ext cx="23042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Spring Security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215522" y="3256454"/>
            <a:ext cx="23042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JWT Auth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31837" y="4484493"/>
            <a:ext cx="23042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657209" y="1174365"/>
            <a:ext cx="1978411" cy="2781052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9" name="Shape 27"/>
          <p:cNvSpPr/>
          <p:nvPr/>
        </p:nvSpPr>
        <p:spPr>
          <a:xfrm>
            <a:off x="4658233" y="1187016"/>
            <a:ext cx="1976365" cy="64471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29901" y="1247517"/>
            <a:ext cx="2670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359639" y="1438868"/>
            <a:ext cx="2670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 flipV="1">
            <a:off x="4768437" y="1897130"/>
            <a:ext cx="1776140" cy="4423"/>
          </a:xfrm>
          <a:prstGeom prst="line">
            <a:avLst/>
          </a:prstGeom>
          <a:noFill/>
          <a:ln w="7620">
            <a:solidFill>
              <a:schemeClr val="bg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30532" y="1934900"/>
            <a:ext cx="23042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MySQL 8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605436" y="2260991"/>
            <a:ext cx="23042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Hibernate ORM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45510" y="2588218"/>
            <a:ext cx="23042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Auto DDL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56546" y="2932877"/>
            <a:ext cx="23042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11 Tables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30532" y="3265394"/>
            <a:ext cx="23042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Shared DB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90555" y="4201198"/>
            <a:ext cx="8631936" cy="595624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9" name="Text 37"/>
          <p:cNvSpPr/>
          <p:nvPr/>
        </p:nvSpPr>
        <p:spPr>
          <a:xfrm>
            <a:off x="139527" y="4298524"/>
            <a:ext cx="8631936" cy="362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 SERVICE  </a:t>
            </a:r>
            <a:r>
              <a:rPr lang="en-US" sz="12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—  Python  ·  FastAPI  ·  Groq API  ·  Llama 3.1 8B Instant  ·  mysql-connector-python  ·  python-dotenv</a:t>
            </a:r>
            <a:endParaRPr lang="en-US" sz="1200" dirty="0"/>
          </a:p>
        </p:txBody>
      </p:sp>
      <p:sp>
        <p:nvSpPr>
          <p:cNvPr id="41" name="Shape 27">
            <a:extLst>
              <a:ext uri="{FF2B5EF4-FFF2-40B4-BE49-F238E27FC236}">
                <a16:creationId xmlns:a16="http://schemas.microsoft.com/office/drawing/2014/main" id="{38676D15-8D33-BD0D-2421-C642FB3461C7}"/>
              </a:ext>
            </a:extLst>
          </p:cNvPr>
          <p:cNvSpPr/>
          <p:nvPr/>
        </p:nvSpPr>
        <p:spPr>
          <a:xfrm>
            <a:off x="290556" y="4195815"/>
            <a:ext cx="8631936" cy="85937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2" name="Shape 26">
            <a:extLst>
              <a:ext uri="{FF2B5EF4-FFF2-40B4-BE49-F238E27FC236}">
                <a16:creationId xmlns:a16="http://schemas.microsoft.com/office/drawing/2014/main" id="{7C292603-AA3D-C1C7-C169-A4EC0DD347A5}"/>
              </a:ext>
            </a:extLst>
          </p:cNvPr>
          <p:cNvSpPr/>
          <p:nvPr/>
        </p:nvSpPr>
        <p:spPr>
          <a:xfrm>
            <a:off x="6784539" y="1179257"/>
            <a:ext cx="1978411" cy="2776158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43" name="Shape 27">
            <a:extLst>
              <a:ext uri="{FF2B5EF4-FFF2-40B4-BE49-F238E27FC236}">
                <a16:creationId xmlns:a16="http://schemas.microsoft.com/office/drawing/2014/main" id="{A78B9805-8B44-0FF9-A98E-D3A0623F57F2}"/>
              </a:ext>
            </a:extLst>
          </p:cNvPr>
          <p:cNvSpPr/>
          <p:nvPr/>
        </p:nvSpPr>
        <p:spPr>
          <a:xfrm>
            <a:off x="6796198" y="1175404"/>
            <a:ext cx="1976365" cy="64471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415F0B-EFD0-B1B6-C621-0019C6B905E3}"/>
              </a:ext>
            </a:extLst>
          </p:cNvPr>
          <p:cNvSpPr txBox="1"/>
          <p:nvPr/>
        </p:nvSpPr>
        <p:spPr>
          <a:xfrm>
            <a:off x="6947540" y="1466556"/>
            <a:ext cx="17083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200" dirty="0"/>
          </a:p>
        </p:txBody>
      </p:sp>
      <p:sp>
        <p:nvSpPr>
          <p:cNvPr id="46" name="Shape 30">
            <a:extLst>
              <a:ext uri="{FF2B5EF4-FFF2-40B4-BE49-F238E27FC236}">
                <a16:creationId xmlns:a16="http://schemas.microsoft.com/office/drawing/2014/main" id="{2FF2EC50-6B99-79AE-1FDA-1E2C1CDF7313}"/>
              </a:ext>
            </a:extLst>
          </p:cNvPr>
          <p:cNvSpPr/>
          <p:nvPr/>
        </p:nvSpPr>
        <p:spPr>
          <a:xfrm flipV="1">
            <a:off x="6878646" y="1892003"/>
            <a:ext cx="1776140" cy="4423"/>
          </a:xfrm>
          <a:prstGeom prst="line">
            <a:avLst/>
          </a:prstGeom>
          <a:noFill/>
          <a:ln w="7620">
            <a:solidFill>
              <a:schemeClr val="bg1"/>
            </a:solidFill>
            <a:prstDash val="solid"/>
          </a:ln>
        </p:spPr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588C7A-219A-777A-6C34-DD1FFB2E0CF5}"/>
              </a:ext>
            </a:extLst>
          </p:cNvPr>
          <p:cNvSpPr txBox="1"/>
          <p:nvPr/>
        </p:nvSpPr>
        <p:spPr>
          <a:xfrm>
            <a:off x="7224709" y="1980120"/>
            <a:ext cx="1546754" cy="1448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Jest</a:t>
            </a:r>
          </a:p>
          <a:p>
            <a:pPr algn="just">
              <a:lnSpc>
                <a:spcPct val="150000"/>
              </a:lnSpc>
            </a:pPr>
            <a:r>
              <a:rPr lang="en-US" sz="1200" dirty="0" err="1">
                <a:solidFill>
                  <a:schemeClr val="bg1">
                    <a:lumMod val="65000"/>
                  </a:schemeClr>
                </a:solidFill>
              </a:rPr>
              <a:t>PyTest</a:t>
            </a:r>
            <a:endParaRPr lang="en-US" sz="1200" dirty="0">
              <a:solidFill>
                <a:schemeClr val="bg1">
                  <a:lumMod val="65000"/>
                </a:schemeClr>
              </a:solidFill>
            </a:endParaRPr>
          </a:p>
          <a:p>
            <a:pPr algn="just">
              <a:lnSpc>
                <a:spcPct val="150000"/>
              </a:lnSpc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Postman</a:t>
            </a:r>
          </a:p>
          <a:p>
            <a:pPr algn="just">
              <a:lnSpc>
                <a:spcPct val="150000"/>
              </a:lnSpc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Swagger UI</a:t>
            </a:r>
          </a:p>
          <a:p>
            <a:pPr algn="just">
              <a:lnSpc>
                <a:spcPct val="150000"/>
              </a:lnSpc>
            </a:pPr>
            <a:r>
              <a:rPr lang="en-US" sz="1200" dirty="0" err="1">
                <a:solidFill>
                  <a:schemeClr val="bg1">
                    <a:lumMod val="65000"/>
                  </a:schemeClr>
                </a:solidFill>
              </a:rPr>
              <a:t>Selinium</a:t>
            </a:r>
            <a:endParaRPr lang="en-IN" sz="12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2880" y="1783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FFFFFF"/>
                </a:solidFill>
              </a:rPr>
              <a:t>✦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665698" y="4679266"/>
            <a:ext cx="407964" cy="3341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666666"/>
                </a:solidFill>
              </a:rPr>
              <a:t>✦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0" y="347472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kern="0" spc="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CONCLUSION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1371600" y="1042416"/>
            <a:ext cx="6400800" cy="0"/>
          </a:xfrm>
          <a:prstGeom prst="line">
            <a:avLst/>
          </a:prstGeom>
          <a:noFill/>
          <a:ln w="7620">
            <a:solidFill>
              <a:schemeClr val="bg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88720"/>
            <a:ext cx="4114800" cy="1572768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35331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51560" y="137160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impact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178308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Directly addresses medication non-adherence — one of healthcare's biggest problems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114800" cy="1572768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35331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532120" y="137160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roles, 1 platform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532120" y="178308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Admin, Doctor, Patient and Staff all connected in one seamless system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926080"/>
            <a:ext cx="4114800" cy="1572768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309067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⏱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051560" y="310896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Time-aware intelligence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352044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Backend auto-classifies every dose — accurate adherence reporting with zero manual work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54880" y="2926080"/>
            <a:ext cx="4114800" cy="1572768"/>
          </a:xfrm>
          <a:prstGeom prst="rect">
            <a:avLst/>
          </a:prstGeom>
          <a:solidFill>
            <a:srgbClr val="111111">
              <a:alpha val="80000"/>
            </a:srgbClr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09067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532120" y="310896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assistant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32120" y="352044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Personalized medication chatbot using real prescription data — not generic advice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645152"/>
            <a:ext cx="8229600" cy="0"/>
          </a:xfrm>
          <a:prstGeom prst="line">
            <a:avLst/>
          </a:prstGeom>
          <a:noFill/>
          <a:ln w="7620">
            <a:solidFill>
              <a:schemeClr val="bg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0" y="47091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100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NEXT PHASE  →  Email reminders  ·  Mobile application  ·  Teleconsultation module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F8BBE5A-67E2-0EB5-2E82-CDF00B0FAAF3}"/>
              </a:ext>
            </a:extLst>
          </p:cNvPr>
          <p:cNvSpPr txBox="1"/>
          <p:nvPr/>
        </p:nvSpPr>
        <p:spPr>
          <a:xfrm>
            <a:off x="2444262" y="5384691"/>
            <a:ext cx="462123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6600" dirty="0">
                <a:solidFill>
                  <a:srgbClr val="FFFFFF"/>
                </a:solidFill>
                <a:latin typeface="Engravers MT" panose="02090707080505020304" pitchFamily="18" charset="0"/>
                <a:ea typeface="Calibri Light" pitchFamily="34" charset="-122"/>
                <a:cs typeface="Calibri Light" pitchFamily="34" charset="-120"/>
              </a:rPr>
              <a:t>THANK</a:t>
            </a:r>
          </a:p>
          <a:p>
            <a:pPr marL="0" indent="0" algn="ctr">
              <a:buNone/>
            </a:pPr>
            <a:r>
              <a:rPr lang="en-US" sz="6600" dirty="0">
                <a:solidFill>
                  <a:srgbClr val="FFFFFF"/>
                </a:solidFill>
                <a:latin typeface="Engravers MT" panose="02090707080505020304" pitchFamily="18" charset="0"/>
                <a:ea typeface="Calibri Light" pitchFamily="34" charset="-122"/>
                <a:cs typeface="Calibri Light" pitchFamily="34" charset="-120"/>
              </a:rPr>
              <a:t>YOU</a:t>
            </a:r>
            <a:endParaRPr lang="en-US" sz="6600" dirty="0">
              <a:latin typeface="Engravers MT" panose="020907070805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1014" y="809244"/>
            <a:ext cx="7315200" cy="3474720"/>
          </a:xfrm>
          <a:prstGeom prst="ellipse">
            <a:avLst/>
          </a:prstGeom>
          <a:solidFill>
            <a:srgbClr val="000000">
              <a:alpha val="0"/>
            </a:srgbClr>
          </a:solidFill>
          <a:ln w="1016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30922" y="1192237"/>
            <a:ext cx="780758" cy="8053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dirty="0">
                <a:solidFill>
                  <a:srgbClr val="FFFFFF"/>
                </a:solidFill>
              </a:rPr>
              <a:t>✦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83780" y="326194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dirty="0">
                <a:solidFill>
                  <a:srgbClr val="FFFFFF"/>
                </a:solidFill>
              </a:rPr>
              <a:t>✦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0" y="1062112"/>
            <a:ext cx="9144000" cy="254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dirty="0">
                <a:solidFill>
                  <a:srgbClr val="FFFFFF"/>
                </a:solidFill>
                <a:latin typeface="Engravers MT" panose="02090707080505020304" pitchFamily="18" charset="0"/>
                <a:ea typeface="Calibri Light" pitchFamily="34" charset="-122"/>
                <a:cs typeface="Calibri Light" pitchFamily="34" charset="-120"/>
              </a:rPr>
              <a:t>THANK</a:t>
            </a:r>
          </a:p>
          <a:p>
            <a:pPr marL="0" indent="0" algn="ctr">
              <a:buNone/>
            </a:pPr>
            <a:r>
              <a:rPr lang="en-US" sz="7200" dirty="0">
                <a:solidFill>
                  <a:srgbClr val="FFFFFF"/>
                </a:solidFill>
                <a:latin typeface="Engravers MT" panose="02090707080505020304" pitchFamily="18" charset="0"/>
                <a:ea typeface="Calibri Light" pitchFamily="34" charset="-122"/>
                <a:cs typeface="Calibri Light" pitchFamily="34" charset="-120"/>
              </a:rPr>
              <a:t>YOU</a:t>
            </a:r>
            <a:endParaRPr lang="en-US" sz="7200" dirty="0">
              <a:latin typeface="Engravers MT" panose="020907070805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0" y="22402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800" dirty="0"/>
          </a:p>
        </p:txBody>
      </p:sp>
      <p:sp>
        <p:nvSpPr>
          <p:cNvPr id="7" name="Shape 5"/>
          <p:cNvSpPr/>
          <p:nvPr/>
        </p:nvSpPr>
        <p:spPr>
          <a:xfrm>
            <a:off x="2011680" y="3611880"/>
            <a:ext cx="5120640" cy="0"/>
          </a:xfrm>
          <a:prstGeom prst="line">
            <a:avLst/>
          </a:prstGeom>
          <a:noFill/>
          <a:ln w="762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8" name="Text 6"/>
          <p:cNvSpPr/>
          <p:nvPr/>
        </p:nvSpPr>
        <p:spPr>
          <a:xfrm>
            <a:off x="16614" y="36194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kern="0" spc="100" dirty="0">
                <a:solidFill>
                  <a:schemeClr val="bg1"/>
                </a:solidFill>
                <a:latin typeface="Maiandra GD" panose="020E0502030308020204" pitchFamily="34" charset="0"/>
                <a:ea typeface="Calibri Light" pitchFamily="34" charset="-122"/>
                <a:cs typeface="Calibri Light" pitchFamily="34" charset="-120"/>
              </a:rPr>
              <a:t>MediCare — Online Medication and Prescription Tracker</a:t>
            </a:r>
            <a:endParaRPr lang="en-US" sz="1150" dirty="0">
              <a:solidFill>
                <a:schemeClr val="bg1"/>
              </a:solidFill>
              <a:latin typeface="Maiandra GD" panose="020E0502030308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0" y="4863906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 Namitha  ·  P Maruthi Sreeram  ·  B Pramodhini  ·  S Sathwik  |  </a:t>
            </a:r>
            <a:r>
              <a:rPr lang="en-US" sz="1200" b="1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Mentor</a:t>
            </a:r>
            <a:r>
              <a:rPr lang="en-US" sz="1200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: Vinay Prashant</a:t>
            </a:r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793</Words>
  <Application>Microsoft Office PowerPoint</Application>
  <PresentationFormat>On-screen Show (16:9)</PresentationFormat>
  <Paragraphs>208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Calibri Light</vt:lpstr>
      <vt:lpstr>Engravers MT</vt:lpstr>
      <vt:lpstr>Maiandra GD</vt:lpstr>
      <vt:lpstr>Microsoft Himalaya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MediCare — Online Medication &amp; Prescription Tracker</dc:title>
  <dc:subject>PptxGenJS Presentation</dc:subject>
  <dc:creator>PptxGenJS</dc:creator>
  <cp:lastModifiedBy>sreeram maruthi</cp:lastModifiedBy>
  <cp:revision>6</cp:revision>
  <dcterms:created xsi:type="dcterms:W3CDTF">2026-03-22T08:08:20Z</dcterms:created>
  <dcterms:modified xsi:type="dcterms:W3CDTF">2026-03-23T09:28:48Z</dcterms:modified>
</cp:coreProperties>
</file>